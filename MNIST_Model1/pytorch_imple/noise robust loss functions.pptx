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7" r:id="rId3"/>
    <p:sldId id="278" r:id="rId4"/>
    <p:sldId id="263" r:id="rId5"/>
    <p:sldId id="258" r:id="rId6"/>
    <p:sldId id="259" r:id="rId7"/>
    <p:sldId id="274" r:id="rId8"/>
    <p:sldId id="260" r:id="rId9"/>
    <p:sldId id="285" r:id="rId10"/>
    <p:sldId id="283" r:id="rId11"/>
    <p:sldId id="275" r:id="rId12"/>
    <p:sldId id="276" r:id="rId13"/>
    <p:sldId id="287" r:id="rId14"/>
    <p:sldId id="273" r:id="rId15"/>
    <p:sldId id="286" r:id="rId16"/>
    <p:sldId id="284" r:id="rId17"/>
    <p:sldId id="281" r:id="rId18"/>
    <p:sldId id="279"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7"/>
    <p:restoredTop sz="94704"/>
  </p:normalViewPr>
  <p:slideViewPr>
    <p:cSldViewPr snapToGrid="0">
      <p:cViewPr varScale="1">
        <p:scale>
          <a:sx n="85" d="100"/>
          <a:sy n="85" d="100"/>
        </p:scale>
        <p:origin x="176" y="6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5E4FE-7D97-2146-E914-C5A4F5733D1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D4F2731-ED2A-BE32-C5FD-DAB41D5E65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58AB1C5-F6FE-AD62-D78A-C5078294C497}"/>
              </a:ext>
            </a:extLst>
          </p:cNvPr>
          <p:cNvSpPr>
            <a:spLocks noGrp="1"/>
          </p:cNvSpPr>
          <p:nvPr>
            <p:ph type="dt" sz="half" idx="10"/>
          </p:nvPr>
        </p:nvSpPr>
        <p:spPr/>
        <p:txBody>
          <a:bodyPr/>
          <a:lstStyle/>
          <a:p>
            <a:fld id="{2D1A21C8-0ED1-534E-9792-DC49F3D048AF}" type="datetimeFigureOut">
              <a:rPr lang="en-US" smtClean="0"/>
              <a:t>12/5/25</a:t>
            </a:fld>
            <a:endParaRPr lang="en-US"/>
          </a:p>
        </p:txBody>
      </p:sp>
      <p:sp>
        <p:nvSpPr>
          <p:cNvPr id="5" name="Footer Placeholder 4">
            <a:extLst>
              <a:ext uri="{FF2B5EF4-FFF2-40B4-BE49-F238E27FC236}">
                <a16:creationId xmlns:a16="http://schemas.microsoft.com/office/drawing/2014/main" id="{72E29139-EA0C-6130-E222-ACF50A1509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CC45B9-D5C5-CA38-2347-4B5A936F97FB}"/>
              </a:ext>
            </a:extLst>
          </p:cNvPr>
          <p:cNvSpPr>
            <a:spLocks noGrp="1"/>
          </p:cNvSpPr>
          <p:nvPr>
            <p:ph type="sldNum" sz="quarter" idx="12"/>
          </p:nvPr>
        </p:nvSpPr>
        <p:spPr/>
        <p:txBody>
          <a:bodyPr/>
          <a:lstStyle/>
          <a:p>
            <a:fld id="{84507858-1696-AA45-9E90-1FDFBA1797B6}" type="slidenum">
              <a:rPr lang="en-US" smtClean="0"/>
              <a:t>‹#›</a:t>
            </a:fld>
            <a:endParaRPr lang="en-US"/>
          </a:p>
        </p:txBody>
      </p:sp>
    </p:spTree>
    <p:extLst>
      <p:ext uri="{BB962C8B-B14F-4D97-AF65-F5344CB8AC3E}">
        <p14:creationId xmlns:p14="http://schemas.microsoft.com/office/powerpoint/2010/main" val="4208282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82C6A-DC06-A12F-F277-F607F57A398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FE119DB-5C88-50E0-DF0E-C9C8B52970A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1FD304C-25A1-7595-D39E-9ED3FB2DCF6A}"/>
              </a:ext>
            </a:extLst>
          </p:cNvPr>
          <p:cNvSpPr>
            <a:spLocks noGrp="1"/>
          </p:cNvSpPr>
          <p:nvPr>
            <p:ph type="dt" sz="half" idx="10"/>
          </p:nvPr>
        </p:nvSpPr>
        <p:spPr/>
        <p:txBody>
          <a:bodyPr/>
          <a:lstStyle/>
          <a:p>
            <a:fld id="{2D1A21C8-0ED1-534E-9792-DC49F3D048AF}" type="datetimeFigureOut">
              <a:rPr lang="en-US" smtClean="0"/>
              <a:t>12/5/25</a:t>
            </a:fld>
            <a:endParaRPr lang="en-US"/>
          </a:p>
        </p:txBody>
      </p:sp>
      <p:sp>
        <p:nvSpPr>
          <p:cNvPr id="5" name="Footer Placeholder 4">
            <a:extLst>
              <a:ext uri="{FF2B5EF4-FFF2-40B4-BE49-F238E27FC236}">
                <a16:creationId xmlns:a16="http://schemas.microsoft.com/office/drawing/2014/main" id="{8BE24716-454D-609D-BFD4-ACF7F3A3B1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E05BA3-5B17-7B0D-2DD2-4DEA116EA0CE}"/>
              </a:ext>
            </a:extLst>
          </p:cNvPr>
          <p:cNvSpPr>
            <a:spLocks noGrp="1"/>
          </p:cNvSpPr>
          <p:nvPr>
            <p:ph type="sldNum" sz="quarter" idx="12"/>
          </p:nvPr>
        </p:nvSpPr>
        <p:spPr/>
        <p:txBody>
          <a:bodyPr/>
          <a:lstStyle/>
          <a:p>
            <a:fld id="{84507858-1696-AA45-9E90-1FDFBA1797B6}" type="slidenum">
              <a:rPr lang="en-US" smtClean="0"/>
              <a:t>‹#›</a:t>
            </a:fld>
            <a:endParaRPr lang="en-US"/>
          </a:p>
        </p:txBody>
      </p:sp>
    </p:spTree>
    <p:extLst>
      <p:ext uri="{BB962C8B-B14F-4D97-AF65-F5344CB8AC3E}">
        <p14:creationId xmlns:p14="http://schemas.microsoft.com/office/powerpoint/2010/main" val="176926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0F172-8C2D-F123-E1F3-DC6D77B4EDA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529BBF5-AD55-0C99-7222-6A1759DADA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D884025-C025-997F-CFBD-6DB84DD085AD}"/>
              </a:ext>
            </a:extLst>
          </p:cNvPr>
          <p:cNvSpPr>
            <a:spLocks noGrp="1"/>
          </p:cNvSpPr>
          <p:nvPr>
            <p:ph type="dt" sz="half" idx="10"/>
          </p:nvPr>
        </p:nvSpPr>
        <p:spPr/>
        <p:txBody>
          <a:bodyPr/>
          <a:lstStyle/>
          <a:p>
            <a:fld id="{2D1A21C8-0ED1-534E-9792-DC49F3D048AF}" type="datetimeFigureOut">
              <a:rPr lang="en-US" smtClean="0"/>
              <a:t>12/5/25</a:t>
            </a:fld>
            <a:endParaRPr lang="en-US"/>
          </a:p>
        </p:txBody>
      </p:sp>
      <p:sp>
        <p:nvSpPr>
          <p:cNvPr id="5" name="Footer Placeholder 4">
            <a:extLst>
              <a:ext uri="{FF2B5EF4-FFF2-40B4-BE49-F238E27FC236}">
                <a16:creationId xmlns:a16="http://schemas.microsoft.com/office/drawing/2014/main" id="{F3E6288E-62B7-BFB8-F3B3-4D99A68B85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EEB755-601C-CF8E-C6F2-02AB80314FA5}"/>
              </a:ext>
            </a:extLst>
          </p:cNvPr>
          <p:cNvSpPr>
            <a:spLocks noGrp="1"/>
          </p:cNvSpPr>
          <p:nvPr>
            <p:ph type="sldNum" sz="quarter" idx="12"/>
          </p:nvPr>
        </p:nvSpPr>
        <p:spPr/>
        <p:txBody>
          <a:bodyPr/>
          <a:lstStyle/>
          <a:p>
            <a:fld id="{84507858-1696-AA45-9E90-1FDFBA1797B6}" type="slidenum">
              <a:rPr lang="en-US" smtClean="0"/>
              <a:t>‹#›</a:t>
            </a:fld>
            <a:endParaRPr lang="en-US"/>
          </a:p>
        </p:txBody>
      </p:sp>
    </p:spTree>
    <p:extLst>
      <p:ext uri="{BB962C8B-B14F-4D97-AF65-F5344CB8AC3E}">
        <p14:creationId xmlns:p14="http://schemas.microsoft.com/office/powerpoint/2010/main" val="27984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68EED-FD04-BFD0-7518-FEBB9C924AF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B2D6EA6-9766-8865-4112-0215635EE8E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54DE4D4-CED0-96D0-3BAA-82BE3AF95A6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206B913-ED11-10F0-3265-102A925B5011}"/>
              </a:ext>
            </a:extLst>
          </p:cNvPr>
          <p:cNvSpPr>
            <a:spLocks noGrp="1"/>
          </p:cNvSpPr>
          <p:nvPr>
            <p:ph type="dt" sz="half" idx="10"/>
          </p:nvPr>
        </p:nvSpPr>
        <p:spPr/>
        <p:txBody>
          <a:bodyPr/>
          <a:lstStyle/>
          <a:p>
            <a:fld id="{2D1A21C8-0ED1-534E-9792-DC49F3D048AF}" type="datetimeFigureOut">
              <a:rPr lang="en-US" smtClean="0"/>
              <a:t>12/5/25</a:t>
            </a:fld>
            <a:endParaRPr lang="en-US"/>
          </a:p>
        </p:txBody>
      </p:sp>
      <p:sp>
        <p:nvSpPr>
          <p:cNvPr id="6" name="Footer Placeholder 5">
            <a:extLst>
              <a:ext uri="{FF2B5EF4-FFF2-40B4-BE49-F238E27FC236}">
                <a16:creationId xmlns:a16="http://schemas.microsoft.com/office/drawing/2014/main" id="{9CFAC058-6AE2-3C1B-9A5C-9B02DDE3E9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32FAC1-C475-448D-6D87-6120C68CC3E2}"/>
              </a:ext>
            </a:extLst>
          </p:cNvPr>
          <p:cNvSpPr>
            <a:spLocks noGrp="1"/>
          </p:cNvSpPr>
          <p:nvPr>
            <p:ph type="sldNum" sz="quarter" idx="12"/>
          </p:nvPr>
        </p:nvSpPr>
        <p:spPr/>
        <p:txBody>
          <a:bodyPr/>
          <a:lstStyle/>
          <a:p>
            <a:fld id="{84507858-1696-AA45-9E90-1FDFBA1797B6}" type="slidenum">
              <a:rPr lang="en-US" smtClean="0"/>
              <a:t>‹#›</a:t>
            </a:fld>
            <a:endParaRPr lang="en-US"/>
          </a:p>
        </p:txBody>
      </p:sp>
    </p:spTree>
    <p:extLst>
      <p:ext uri="{BB962C8B-B14F-4D97-AF65-F5344CB8AC3E}">
        <p14:creationId xmlns:p14="http://schemas.microsoft.com/office/powerpoint/2010/main" val="1114684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57163-4583-694C-42A9-B312AAF762D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42CBA14-F03B-B2F8-CCF3-CDB16276C1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E887F67-EE93-94EC-F9D8-9EE5AC53CA7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92C41FF-979C-7D80-0F3C-51EF090108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880789D-E03E-317D-BE89-EC1AB9CAA40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93CF375-9142-65D3-9BBD-DC6EC926A590}"/>
              </a:ext>
            </a:extLst>
          </p:cNvPr>
          <p:cNvSpPr>
            <a:spLocks noGrp="1"/>
          </p:cNvSpPr>
          <p:nvPr>
            <p:ph type="dt" sz="half" idx="10"/>
          </p:nvPr>
        </p:nvSpPr>
        <p:spPr/>
        <p:txBody>
          <a:bodyPr/>
          <a:lstStyle/>
          <a:p>
            <a:fld id="{2D1A21C8-0ED1-534E-9792-DC49F3D048AF}" type="datetimeFigureOut">
              <a:rPr lang="en-US" smtClean="0"/>
              <a:t>12/5/25</a:t>
            </a:fld>
            <a:endParaRPr lang="en-US"/>
          </a:p>
        </p:txBody>
      </p:sp>
      <p:sp>
        <p:nvSpPr>
          <p:cNvPr id="8" name="Footer Placeholder 7">
            <a:extLst>
              <a:ext uri="{FF2B5EF4-FFF2-40B4-BE49-F238E27FC236}">
                <a16:creationId xmlns:a16="http://schemas.microsoft.com/office/drawing/2014/main" id="{43892BA4-BB4A-DDE1-8BEA-968BF6BA2E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69C4CE-8A97-8DE6-5283-4CE84032A656}"/>
              </a:ext>
            </a:extLst>
          </p:cNvPr>
          <p:cNvSpPr>
            <a:spLocks noGrp="1"/>
          </p:cNvSpPr>
          <p:nvPr>
            <p:ph type="sldNum" sz="quarter" idx="12"/>
          </p:nvPr>
        </p:nvSpPr>
        <p:spPr/>
        <p:txBody>
          <a:bodyPr/>
          <a:lstStyle/>
          <a:p>
            <a:fld id="{84507858-1696-AA45-9E90-1FDFBA1797B6}" type="slidenum">
              <a:rPr lang="en-US" smtClean="0"/>
              <a:t>‹#›</a:t>
            </a:fld>
            <a:endParaRPr lang="en-US"/>
          </a:p>
        </p:txBody>
      </p:sp>
    </p:spTree>
    <p:extLst>
      <p:ext uri="{BB962C8B-B14F-4D97-AF65-F5344CB8AC3E}">
        <p14:creationId xmlns:p14="http://schemas.microsoft.com/office/powerpoint/2010/main" val="1113758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87A9C-4072-F930-FFD9-F62D2C0B808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303290C-64EA-71AB-0611-9A813FB552C9}"/>
              </a:ext>
            </a:extLst>
          </p:cNvPr>
          <p:cNvSpPr>
            <a:spLocks noGrp="1"/>
          </p:cNvSpPr>
          <p:nvPr>
            <p:ph type="dt" sz="half" idx="10"/>
          </p:nvPr>
        </p:nvSpPr>
        <p:spPr/>
        <p:txBody>
          <a:bodyPr/>
          <a:lstStyle/>
          <a:p>
            <a:fld id="{2D1A21C8-0ED1-534E-9792-DC49F3D048AF}" type="datetimeFigureOut">
              <a:rPr lang="en-US" smtClean="0"/>
              <a:t>12/5/25</a:t>
            </a:fld>
            <a:endParaRPr lang="en-US"/>
          </a:p>
        </p:txBody>
      </p:sp>
      <p:sp>
        <p:nvSpPr>
          <p:cNvPr id="4" name="Footer Placeholder 3">
            <a:extLst>
              <a:ext uri="{FF2B5EF4-FFF2-40B4-BE49-F238E27FC236}">
                <a16:creationId xmlns:a16="http://schemas.microsoft.com/office/drawing/2014/main" id="{7B7D7787-DCC3-2C45-FA02-B60142261E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BEACA1-8D7A-21FF-C6C8-D249225058F9}"/>
              </a:ext>
            </a:extLst>
          </p:cNvPr>
          <p:cNvSpPr>
            <a:spLocks noGrp="1"/>
          </p:cNvSpPr>
          <p:nvPr>
            <p:ph type="sldNum" sz="quarter" idx="12"/>
          </p:nvPr>
        </p:nvSpPr>
        <p:spPr/>
        <p:txBody>
          <a:bodyPr/>
          <a:lstStyle/>
          <a:p>
            <a:fld id="{84507858-1696-AA45-9E90-1FDFBA1797B6}" type="slidenum">
              <a:rPr lang="en-US" smtClean="0"/>
              <a:t>‹#›</a:t>
            </a:fld>
            <a:endParaRPr lang="en-US"/>
          </a:p>
        </p:txBody>
      </p:sp>
    </p:spTree>
    <p:extLst>
      <p:ext uri="{BB962C8B-B14F-4D97-AF65-F5344CB8AC3E}">
        <p14:creationId xmlns:p14="http://schemas.microsoft.com/office/powerpoint/2010/main" val="3257951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2F64C9-FCC4-8B07-0662-9461F8E11AC4}"/>
              </a:ext>
            </a:extLst>
          </p:cNvPr>
          <p:cNvSpPr>
            <a:spLocks noGrp="1"/>
          </p:cNvSpPr>
          <p:nvPr>
            <p:ph type="dt" sz="half" idx="10"/>
          </p:nvPr>
        </p:nvSpPr>
        <p:spPr/>
        <p:txBody>
          <a:bodyPr/>
          <a:lstStyle/>
          <a:p>
            <a:fld id="{2D1A21C8-0ED1-534E-9792-DC49F3D048AF}" type="datetimeFigureOut">
              <a:rPr lang="en-US" smtClean="0"/>
              <a:t>12/5/25</a:t>
            </a:fld>
            <a:endParaRPr lang="en-US"/>
          </a:p>
        </p:txBody>
      </p:sp>
      <p:sp>
        <p:nvSpPr>
          <p:cNvPr id="3" name="Footer Placeholder 2">
            <a:extLst>
              <a:ext uri="{FF2B5EF4-FFF2-40B4-BE49-F238E27FC236}">
                <a16:creationId xmlns:a16="http://schemas.microsoft.com/office/drawing/2014/main" id="{E9952424-DE4E-01DE-87CA-1A0ACAB601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607E23-D230-0B9C-B035-29A25826A677}"/>
              </a:ext>
            </a:extLst>
          </p:cNvPr>
          <p:cNvSpPr>
            <a:spLocks noGrp="1"/>
          </p:cNvSpPr>
          <p:nvPr>
            <p:ph type="sldNum" sz="quarter" idx="12"/>
          </p:nvPr>
        </p:nvSpPr>
        <p:spPr/>
        <p:txBody>
          <a:bodyPr/>
          <a:lstStyle/>
          <a:p>
            <a:fld id="{84507858-1696-AA45-9E90-1FDFBA1797B6}" type="slidenum">
              <a:rPr lang="en-US" smtClean="0"/>
              <a:t>‹#›</a:t>
            </a:fld>
            <a:endParaRPr lang="en-US"/>
          </a:p>
        </p:txBody>
      </p:sp>
    </p:spTree>
    <p:extLst>
      <p:ext uri="{BB962C8B-B14F-4D97-AF65-F5344CB8AC3E}">
        <p14:creationId xmlns:p14="http://schemas.microsoft.com/office/powerpoint/2010/main" val="3758309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2E201-6B87-86FD-2DCC-1A94E89DAF5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527F17F-DD59-5CB1-ABF9-A5F2F4C703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63C5445-5047-9D48-B79E-A9FF9ECA0A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513595A-E12C-258B-C6CB-0BBBD1ACAA82}"/>
              </a:ext>
            </a:extLst>
          </p:cNvPr>
          <p:cNvSpPr>
            <a:spLocks noGrp="1"/>
          </p:cNvSpPr>
          <p:nvPr>
            <p:ph type="dt" sz="half" idx="10"/>
          </p:nvPr>
        </p:nvSpPr>
        <p:spPr/>
        <p:txBody>
          <a:bodyPr/>
          <a:lstStyle/>
          <a:p>
            <a:fld id="{2D1A21C8-0ED1-534E-9792-DC49F3D048AF}" type="datetimeFigureOut">
              <a:rPr lang="en-US" smtClean="0"/>
              <a:t>12/5/25</a:t>
            </a:fld>
            <a:endParaRPr lang="en-US"/>
          </a:p>
        </p:txBody>
      </p:sp>
      <p:sp>
        <p:nvSpPr>
          <p:cNvPr id="6" name="Footer Placeholder 5">
            <a:extLst>
              <a:ext uri="{FF2B5EF4-FFF2-40B4-BE49-F238E27FC236}">
                <a16:creationId xmlns:a16="http://schemas.microsoft.com/office/drawing/2014/main" id="{5C56F888-16B0-8CE4-C41F-38FA3C21C1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5FB820-08C0-D3D1-E36C-06DE203B5328}"/>
              </a:ext>
            </a:extLst>
          </p:cNvPr>
          <p:cNvSpPr>
            <a:spLocks noGrp="1"/>
          </p:cNvSpPr>
          <p:nvPr>
            <p:ph type="sldNum" sz="quarter" idx="12"/>
          </p:nvPr>
        </p:nvSpPr>
        <p:spPr/>
        <p:txBody>
          <a:bodyPr/>
          <a:lstStyle/>
          <a:p>
            <a:fld id="{84507858-1696-AA45-9E90-1FDFBA1797B6}" type="slidenum">
              <a:rPr lang="en-US" smtClean="0"/>
              <a:t>‹#›</a:t>
            </a:fld>
            <a:endParaRPr lang="en-US"/>
          </a:p>
        </p:txBody>
      </p:sp>
    </p:spTree>
    <p:extLst>
      <p:ext uri="{BB962C8B-B14F-4D97-AF65-F5344CB8AC3E}">
        <p14:creationId xmlns:p14="http://schemas.microsoft.com/office/powerpoint/2010/main" val="2457425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E5C44-691C-8E60-55AE-1A64B6F25D1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D75035E-0BF2-64A6-D480-8983477FC7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DE577B-D03C-F9F1-BB8D-B0BD204134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578F5DF-4D4D-5F83-6F1A-BBE0B7985DF3}"/>
              </a:ext>
            </a:extLst>
          </p:cNvPr>
          <p:cNvSpPr>
            <a:spLocks noGrp="1"/>
          </p:cNvSpPr>
          <p:nvPr>
            <p:ph type="dt" sz="half" idx="10"/>
          </p:nvPr>
        </p:nvSpPr>
        <p:spPr/>
        <p:txBody>
          <a:bodyPr/>
          <a:lstStyle/>
          <a:p>
            <a:fld id="{2D1A21C8-0ED1-534E-9792-DC49F3D048AF}" type="datetimeFigureOut">
              <a:rPr lang="en-US" smtClean="0"/>
              <a:t>12/5/25</a:t>
            </a:fld>
            <a:endParaRPr lang="en-US"/>
          </a:p>
        </p:txBody>
      </p:sp>
      <p:sp>
        <p:nvSpPr>
          <p:cNvPr id="6" name="Footer Placeholder 5">
            <a:extLst>
              <a:ext uri="{FF2B5EF4-FFF2-40B4-BE49-F238E27FC236}">
                <a16:creationId xmlns:a16="http://schemas.microsoft.com/office/drawing/2014/main" id="{521542BE-C8AF-4600-5515-441CD8BFDF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DF62B6-98CC-3E91-1402-5003088C0DCF}"/>
              </a:ext>
            </a:extLst>
          </p:cNvPr>
          <p:cNvSpPr>
            <a:spLocks noGrp="1"/>
          </p:cNvSpPr>
          <p:nvPr>
            <p:ph type="sldNum" sz="quarter" idx="12"/>
          </p:nvPr>
        </p:nvSpPr>
        <p:spPr/>
        <p:txBody>
          <a:bodyPr/>
          <a:lstStyle/>
          <a:p>
            <a:fld id="{84507858-1696-AA45-9E90-1FDFBA1797B6}" type="slidenum">
              <a:rPr lang="en-US" smtClean="0"/>
              <a:t>‹#›</a:t>
            </a:fld>
            <a:endParaRPr lang="en-US"/>
          </a:p>
        </p:txBody>
      </p:sp>
    </p:spTree>
    <p:extLst>
      <p:ext uri="{BB962C8B-B14F-4D97-AF65-F5344CB8AC3E}">
        <p14:creationId xmlns:p14="http://schemas.microsoft.com/office/powerpoint/2010/main" val="3068343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FB739-A206-82B1-D401-3F2C6D33082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AA80A10-7DCA-4F2D-7EBC-7589B4F4A69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FAB9FE1-7ACA-611E-66FB-90CFA78BABE0}"/>
              </a:ext>
            </a:extLst>
          </p:cNvPr>
          <p:cNvSpPr>
            <a:spLocks noGrp="1"/>
          </p:cNvSpPr>
          <p:nvPr>
            <p:ph type="dt" sz="half" idx="10"/>
          </p:nvPr>
        </p:nvSpPr>
        <p:spPr/>
        <p:txBody>
          <a:bodyPr/>
          <a:lstStyle/>
          <a:p>
            <a:fld id="{2D1A21C8-0ED1-534E-9792-DC49F3D048AF}" type="datetimeFigureOut">
              <a:rPr lang="en-US" smtClean="0"/>
              <a:t>12/5/25</a:t>
            </a:fld>
            <a:endParaRPr lang="en-US"/>
          </a:p>
        </p:txBody>
      </p:sp>
      <p:sp>
        <p:nvSpPr>
          <p:cNvPr id="5" name="Footer Placeholder 4">
            <a:extLst>
              <a:ext uri="{FF2B5EF4-FFF2-40B4-BE49-F238E27FC236}">
                <a16:creationId xmlns:a16="http://schemas.microsoft.com/office/drawing/2014/main" id="{42FB386E-3F73-4FA9-15F1-1F71CD162D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B6C49F-9E32-DAF1-FADD-965507A29D2A}"/>
              </a:ext>
            </a:extLst>
          </p:cNvPr>
          <p:cNvSpPr>
            <a:spLocks noGrp="1"/>
          </p:cNvSpPr>
          <p:nvPr>
            <p:ph type="sldNum" sz="quarter" idx="12"/>
          </p:nvPr>
        </p:nvSpPr>
        <p:spPr/>
        <p:txBody>
          <a:bodyPr/>
          <a:lstStyle/>
          <a:p>
            <a:fld id="{84507858-1696-AA45-9E90-1FDFBA1797B6}" type="slidenum">
              <a:rPr lang="en-US" smtClean="0"/>
              <a:t>‹#›</a:t>
            </a:fld>
            <a:endParaRPr lang="en-US"/>
          </a:p>
        </p:txBody>
      </p:sp>
    </p:spTree>
    <p:extLst>
      <p:ext uri="{BB962C8B-B14F-4D97-AF65-F5344CB8AC3E}">
        <p14:creationId xmlns:p14="http://schemas.microsoft.com/office/powerpoint/2010/main" val="3488722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36D1D0-7813-0762-EA5D-F3FED3F8FB4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471B061-35EC-5669-ED37-5FB65F72100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06BE233-0B11-1D77-5489-E9458B434500}"/>
              </a:ext>
            </a:extLst>
          </p:cNvPr>
          <p:cNvSpPr>
            <a:spLocks noGrp="1"/>
          </p:cNvSpPr>
          <p:nvPr>
            <p:ph type="dt" sz="half" idx="10"/>
          </p:nvPr>
        </p:nvSpPr>
        <p:spPr/>
        <p:txBody>
          <a:bodyPr/>
          <a:lstStyle/>
          <a:p>
            <a:fld id="{2D1A21C8-0ED1-534E-9792-DC49F3D048AF}" type="datetimeFigureOut">
              <a:rPr lang="en-US" smtClean="0"/>
              <a:t>12/5/25</a:t>
            </a:fld>
            <a:endParaRPr lang="en-US"/>
          </a:p>
        </p:txBody>
      </p:sp>
      <p:sp>
        <p:nvSpPr>
          <p:cNvPr id="5" name="Footer Placeholder 4">
            <a:extLst>
              <a:ext uri="{FF2B5EF4-FFF2-40B4-BE49-F238E27FC236}">
                <a16:creationId xmlns:a16="http://schemas.microsoft.com/office/drawing/2014/main" id="{F06FEE7B-65FC-8C7B-3AA1-3341B8BD86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DAF2D6-73F6-5EC8-B4CA-A22C9982E84F}"/>
              </a:ext>
            </a:extLst>
          </p:cNvPr>
          <p:cNvSpPr>
            <a:spLocks noGrp="1"/>
          </p:cNvSpPr>
          <p:nvPr>
            <p:ph type="sldNum" sz="quarter" idx="12"/>
          </p:nvPr>
        </p:nvSpPr>
        <p:spPr/>
        <p:txBody>
          <a:bodyPr/>
          <a:lstStyle/>
          <a:p>
            <a:fld id="{84507858-1696-AA45-9E90-1FDFBA1797B6}" type="slidenum">
              <a:rPr lang="en-US" smtClean="0"/>
              <a:t>‹#›</a:t>
            </a:fld>
            <a:endParaRPr lang="en-US"/>
          </a:p>
        </p:txBody>
      </p:sp>
    </p:spTree>
    <p:extLst>
      <p:ext uri="{BB962C8B-B14F-4D97-AF65-F5344CB8AC3E}">
        <p14:creationId xmlns:p14="http://schemas.microsoft.com/office/powerpoint/2010/main" val="123514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6B3BCE-467A-BECB-9B75-6CC781D555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D8DAD0C-6383-0BE0-A83E-0C89D42FFC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9C1D1A4-2739-2071-F0BC-D87494D7E8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1A21C8-0ED1-534E-9792-DC49F3D048AF}" type="datetimeFigureOut">
              <a:rPr lang="en-US" smtClean="0"/>
              <a:t>12/5/25</a:t>
            </a:fld>
            <a:endParaRPr lang="en-US"/>
          </a:p>
        </p:txBody>
      </p:sp>
      <p:sp>
        <p:nvSpPr>
          <p:cNvPr id="5" name="Footer Placeholder 4">
            <a:extLst>
              <a:ext uri="{FF2B5EF4-FFF2-40B4-BE49-F238E27FC236}">
                <a16:creationId xmlns:a16="http://schemas.microsoft.com/office/drawing/2014/main" id="{9CCFF5A0-C8A7-B598-7530-23B113EE9F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AFBC43F-101E-69A7-1501-F137D6FFAC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507858-1696-AA45-9E90-1FDFBA1797B6}" type="slidenum">
              <a:rPr lang="en-US" smtClean="0"/>
              <a:t>‹#›</a:t>
            </a:fld>
            <a:endParaRPr lang="en-US"/>
          </a:p>
        </p:txBody>
      </p:sp>
    </p:spTree>
    <p:extLst>
      <p:ext uri="{BB962C8B-B14F-4D97-AF65-F5344CB8AC3E}">
        <p14:creationId xmlns:p14="http://schemas.microsoft.com/office/powerpoint/2010/main" val="169945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songhwanjun/Awesome-Noisy-Labels/tree/main"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0642A-2327-B059-A7DA-994FA1F6AF42}"/>
              </a:ext>
            </a:extLst>
          </p:cNvPr>
          <p:cNvSpPr>
            <a:spLocks noGrp="1"/>
          </p:cNvSpPr>
          <p:nvPr>
            <p:ph type="ctrTitle"/>
          </p:nvPr>
        </p:nvSpPr>
        <p:spPr>
          <a:xfrm>
            <a:off x="1263069" y="1854200"/>
            <a:ext cx="9412224" cy="986219"/>
          </a:xfrm>
          <a:ln>
            <a:solidFill>
              <a:schemeClr val="accent1"/>
            </a:solidFill>
          </a:ln>
        </p:spPr>
        <p:txBody>
          <a:bodyPr/>
          <a:lstStyle/>
          <a:p>
            <a:r>
              <a:rPr lang="en-US" dirty="0">
                <a:solidFill>
                  <a:schemeClr val="accent1">
                    <a:lumMod val="60000"/>
                    <a:lumOff val="40000"/>
                  </a:schemeClr>
                </a:solidFill>
              </a:rPr>
              <a:t>Noise robust loss functions</a:t>
            </a:r>
          </a:p>
        </p:txBody>
      </p:sp>
      <p:sp>
        <p:nvSpPr>
          <p:cNvPr id="3" name="Subtitle 2">
            <a:extLst>
              <a:ext uri="{FF2B5EF4-FFF2-40B4-BE49-F238E27FC236}">
                <a16:creationId xmlns:a16="http://schemas.microsoft.com/office/drawing/2014/main" id="{4F4E368D-AF10-506C-70E0-E17FD5C5FF6C}"/>
              </a:ext>
            </a:extLst>
          </p:cNvPr>
          <p:cNvSpPr>
            <a:spLocks noGrp="1"/>
          </p:cNvSpPr>
          <p:nvPr>
            <p:ph type="subTitle" idx="1"/>
          </p:nvPr>
        </p:nvSpPr>
        <p:spPr/>
        <p:txBody>
          <a:bodyPr/>
          <a:lstStyle/>
          <a:p>
            <a:r>
              <a:rPr lang="en-US" dirty="0"/>
              <a:t>-Srimugunthan</a:t>
            </a:r>
          </a:p>
        </p:txBody>
      </p:sp>
      <p:pic>
        <p:nvPicPr>
          <p:cNvPr id="4" name="Picture 3">
            <a:extLst>
              <a:ext uri="{FF2B5EF4-FFF2-40B4-BE49-F238E27FC236}">
                <a16:creationId xmlns:a16="http://schemas.microsoft.com/office/drawing/2014/main" id="{29CF0286-0E44-49C0-AE4E-348C70063659}"/>
              </a:ext>
            </a:extLst>
          </p:cNvPr>
          <p:cNvPicPr>
            <a:picLocks noChangeAspect="1"/>
          </p:cNvPicPr>
          <p:nvPr/>
        </p:nvPicPr>
        <p:blipFill>
          <a:blip r:embed="rId2"/>
          <a:stretch>
            <a:fillRect/>
          </a:stretch>
        </p:blipFill>
        <p:spPr>
          <a:xfrm>
            <a:off x="2506653" y="4273550"/>
            <a:ext cx="1739900" cy="1968500"/>
          </a:xfrm>
          <a:prstGeom prst="rect">
            <a:avLst/>
          </a:prstGeom>
        </p:spPr>
      </p:pic>
      <p:pic>
        <p:nvPicPr>
          <p:cNvPr id="5" name="Picture 4">
            <a:extLst>
              <a:ext uri="{FF2B5EF4-FFF2-40B4-BE49-F238E27FC236}">
                <a16:creationId xmlns:a16="http://schemas.microsoft.com/office/drawing/2014/main" id="{C2329BDC-3957-7492-CB6D-B103154F69C9}"/>
              </a:ext>
            </a:extLst>
          </p:cNvPr>
          <p:cNvPicPr>
            <a:picLocks noChangeAspect="1"/>
          </p:cNvPicPr>
          <p:nvPr/>
        </p:nvPicPr>
        <p:blipFill>
          <a:blip r:embed="rId3"/>
          <a:stretch>
            <a:fillRect/>
          </a:stretch>
        </p:blipFill>
        <p:spPr>
          <a:xfrm>
            <a:off x="8611507" y="4375150"/>
            <a:ext cx="1587500" cy="1866900"/>
          </a:xfrm>
          <a:prstGeom prst="rect">
            <a:avLst/>
          </a:prstGeom>
        </p:spPr>
      </p:pic>
      <p:sp>
        <p:nvSpPr>
          <p:cNvPr id="6" name="TextBox 5">
            <a:extLst>
              <a:ext uri="{FF2B5EF4-FFF2-40B4-BE49-F238E27FC236}">
                <a16:creationId xmlns:a16="http://schemas.microsoft.com/office/drawing/2014/main" id="{A0F6841D-6149-F463-3643-2F89B6B1DF60}"/>
              </a:ext>
            </a:extLst>
          </p:cNvPr>
          <p:cNvSpPr txBox="1"/>
          <p:nvPr/>
        </p:nvSpPr>
        <p:spPr>
          <a:xfrm>
            <a:off x="5718629" y="4920343"/>
            <a:ext cx="1454565" cy="646331"/>
          </a:xfrm>
          <a:prstGeom prst="rect">
            <a:avLst/>
          </a:prstGeom>
          <a:solidFill>
            <a:schemeClr val="bg2">
              <a:lumMod val="90000"/>
            </a:schemeClr>
          </a:solidFill>
        </p:spPr>
        <p:txBody>
          <a:bodyPr wrap="none" rtlCol="0">
            <a:spAutoFit/>
          </a:bodyPr>
          <a:lstStyle/>
          <a:p>
            <a:r>
              <a:rPr lang="en-US" dirty="0"/>
              <a:t>Noise robust</a:t>
            </a:r>
          </a:p>
          <a:p>
            <a:r>
              <a:rPr lang="en-US" dirty="0"/>
              <a:t>Training</a:t>
            </a:r>
          </a:p>
        </p:txBody>
      </p:sp>
      <p:cxnSp>
        <p:nvCxnSpPr>
          <p:cNvPr id="8" name="Straight Arrow Connector 7">
            <a:extLst>
              <a:ext uri="{FF2B5EF4-FFF2-40B4-BE49-F238E27FC236}">
                <a16:creationId xmlns:a16="http://schemas.microsoft.com/office/drawing/2014/main" id="{4D4F4CA4-3AA4-BE81-AA53-34758B3365AF}"/>
              </a:ext>
            </a:extLst>
          </p:cNvPr>
          <p:cNvCxnSpPr/>
          <p:nvPr/>
        </p:nvCxnSpPr>
        <p:spPr>
          <a:xfrm flipV="1">
            <a:off x="4340352" y="5243508"/>
            <a:ext cx="1231392" cy="142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04F0125A-2793-9C6B-70DA-32285FC88B3A}"/>
              </a:ext>
            </a:extLst>
          </p:cNvPr>
          <p:cNvCxnSpPr/>
          <p:nvPr/>
        </p:nvCxnSpPr>
        <p:spPr>
          <a:xfrm flipV="1">
            <a:off x="7320079" y="5250654"/>
            <a:ext cx="1231392" cy="142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9959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57652-8660-5BEB-40C9-6ADD8116129A}"/>
              </a:ext>
            </a:extLst>
          </p:cNvPr>
          <p:cNvSpPr>
            <a:spLocks noGrp="1"/>
          </p:cNvSpPr>
          <p:nvPr>
            <p:ph type="title"/>
          </p:nvPr>
        </p:nvSpPr>
        <p:spPr/>
        <p:txBody>
          <a:bodyPr/>
          <a:lstStyle/>
          <a:p>
            <a:r>
              <a:rPr lang="en-US" dirty="0"/>
              <a:t>Agenda</a:t>
            </a:r>
          </a:p>
        </p:txBody>
      </p:sp>
      <p:grpSp>
        <p:nvGrpSpPr>
          <p:cNvPr id="4" name="Graphic 2">
            <a:extLst>
              <a:ext uri="{FF2B5EF4-FFF2-40B4-BE49-F238E27FC236}">
                <a16:creationId xmlns:a16="http://schemas.microsoft.com/office/drawing/2014/main" id="{CF7DF136-B458-4D02-5FC0-CF00339A579F}"/>
              </a:ext>
            </a:extLst>
          </p:cNvPr>
          <p:cNvGrpSpPr/>
          <p:nvPr/>
        </p:nvGrpSpPr>
        <p:grpSpPr>
          <a:xfrm>
            <a:off x="904220" y="2776728"/>
            <a:ext cx="608317" cy="600165"/>
            <a:chOff x="11277853" y="5641487"/>
            <a:chExt cx="1821953" cy="1797537"/>
          </a:xfrm>
        </p:grpSpPr>
        <p:sp>
          <p:nvSpPr>
            <p:cNvPr id="5" name="Freeform 4">
              <a:extLst>
                <a:ext uri="{FF2B5EF4-FFF2-40B4-BE49-F238E27FC236}">
                  <a16:creationId xmlns:a16="http://schemas.microsoft.com/office/drawing/2014/main" id="{2CF695EF-0009-FC14-7698-9E12D7199109}"/>
                </a:ext>
              </a:extLst>
            </p:cNvPr>
            <p:cNvSpPr/>
            <p:nvPr/>
          </p:nvSpPr>
          <p:spPr>
            <a:xfrm>
              <a:off x="11277853" y="5754528"/>
              <a:ext cx="1684115" cy="1684496"/>
            </a:xfrm>
            <a:custGeom>
              <a:avLst/>
              <a:gdLst>
                <a:gd name="connsiteX0" fmla="*/ 1312069 w 1684115"/>
                <a:gd name="connsiteY0" fmla="*/ 0 h 1684496"/>
                <a:gd name="connsiteX1" fmla="*/ 372047 w 1684115"/>
                <a:gd name="connsiteY1" fmla="*/ 0 h 1684496"/>
                <a:gd name="connsiteX2" fmla="*/ 0 w 1684115"/>
                <a:gd name="connsiteY2" fmla="*/ 372142 h 1684496"/>
                <a:gd name="connsiteX3" fmla="*/ 0 w 1684115"/>
                <a:gd name="connsiteY3" fmla="*/ 1312069 h 1684496"/>
                <a:gd name="connsiteX4" fmla="*/ 371666 w 1684115"/>
                <a:gd name="connsiteY4" fmla="*/ 1684496 h 1684496"/>
                <a:gd name="connsiteX5" fmla="*/ 372047 w 1684115"/>
                <a:gd name="connsiteY5" fmla="*/ 1684496 h 1684496"/>
                <a:gd name="connsiteX6" fmla="*/ 1312069 w 1684115"/>
                <a:gd name="connsiteY6" fmla="*/ 1684496 h 1684496"/>
                <a:gd name="connsiteX7" fmla="*/ 1684116 w 1684115"/>
                <a:gd name="connsiteY7" fmla="*/ 1312450 h 1684496"/>
                <a:gd name="connsiteX8" fmla="*/ 1684116 w 1684115"/>
                <a:gd name="connsiteY8" fmla="*/ 372142 h 1684496"/>
                <a:gd name="connsiteX9" fmla="*/ 1312069 w 1684115"/>
                <a:gd name="connsiteY9" fmla="*/ 0 h 1684496"/>
                <a:gd name="connsiteX10" fmla="*/ 1478471 w 1684115"/>
                <a:gd name="connsiteY10" fmla="*/ 1106424 h 1684496"/>
                <a:gd name="connsiteX11" fmla="*/ 1106424 w 1684115"/>
                <a:gd name="connsiteY11" fmla="*/ 1478566 h 1684496"/>
                <a:gd name="connsiteX12" fmla="*/ 577596 w 1684115"/>
                <a:gd name="connsiteY12" fmla="*/ 1478566 h 1684496"/>
                <a:gd name="connsiteX13" fmla="*/ 206121 w 1684115"/>
                <a:gd name="connsiteY13" fmla="*/ 1106424 h 1684496"/>
                <a:gd name="connsiteX14" fmla="*/ 206121 w 1684115"/>
                <a:gd name="connsiteY14" fmla="*/ 577691 h 1684496"/>
                <a:gd name="connsiteX15" fmla="*/ 577596 w 1684115"/>
                <a:gd name="connsiteY15" fmla="*/ 205645 h 1684496"/>
                <a:gd name="connsiteX16" fmla="*/ 1106329 w 1684115"/>
                <a:gd name="connsiteY16" fmla="*/ 205645 h 1684496"/>
                <a:gd name="connsiteX17" fmla="*/ 1478376 w 1684115"/>
                <a:gd name="connsiteY17" fmla="*/ 577691 h 1684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84115" h="1684496">
                  <a:moveTo>
                    <a:pt x="1312069" y="0"/>
                  </a:moveTo>
                  <a:lnTo>
                    <a:pt x="372047" y="0"/>
                  </a:lnTo>
                  <a:cubicBezTo>
                    <a:pt x="166554" y="57"/>
                    <a:pt x="0" y="166649"/>
                    <a:pt x="0" y="372142"/>
                  </a:cubicBezTo>
                  <a:lnTo>
                    <a:pt x="0" y="1312069"/>
                  </a:lnTo>
                  <a:cubicBezTo>
                    <a:pt x="-209" y="1517542"/>
                    <a:pt x="166192" y="1684287"/>
                    <a:pt x="371666" y="1684496"/>
                  </a:cubicBezTo>
                  <a:cubicBezTo>
                    <a:pt x="371790" y="1684496"/>
                    <a:pt x="371923" y="1684496"/>
                    <a:pt x="372047" y="1684496"/>
                  </a:cubicBezTo>
                  <a:lnTo>
                    <a:pt x="1312069" y="1684496"/>
                  </a:lnTo>
                  <a:cubicBezTo>
                    <a:pt x="1517542" y="1684496"/>
                    <a:pt x="1684116" y="1517923"/>
                    <a:pt x="1684116" y="1312450"/>
                  </a:cubicBezTo>
                  <a:lnTo>
                    <a:pt x="1684116" y="372142"/>
                  </a:lnTo>
                  <a:cubicBezTo>
                    <a:pt x="1684116" y="166649"/>
                    <a:pt x="1517561" y="57"/>
                    <a:pt x="1312069" y="0"/>
                  </a:cubicBezTo>
                  <a:close/>
                  <a:moveTo>
                    <a:pt x="1478471" y="1106424"/>
                  </a:moveTo>
                  <a:cubicBezTo>
                    <a:pt x="1478471" y="1311916"/>
                    <a:pt x="1311917" y="1478509"/>
                    <a:pt x="1106424" y="1478566"/>
                  </a:cubicBezTo>
                  <a:lnTo>
                    <a:pt x="577596" y="1478566"/>
                  </a:lnTo>
                  <a:cubicBezTo>
                    <a:pt x="372332" y="1478194"/>
                    <a:pt x="206121" y="1311688"/>
                    <a:pt x="206121" y="1106424"/>
                  </a:cubicBezTo>
                  <a:lnTo>
                    <a:pt x="206121" y="577691"/>
                  </a:lnTo>
                  <a:cubicBezTo>
                    <a:pt x="206121" y="372437"/>
                    <a:pt x="372342" y="205959"/>
                    <a:pt x="577596" y="205645"/>
                  </a:cubicBezTo>
                  <a:lnTo>
                    <a:pt x="1106329" y="205645"/>
                  </a:lnTo>
                  <a:cubicBezTo>
                    <a:pt x="1311802" y="205645"/>
                    <a:pt x="1478376" y="372218"/>
                    <a:pt x="1478376" y="577691"/>
                  </a:cubicBezTo>
                  <a:close/>
                </a:path>
              </a:pathLst>
            </a:custGeom>
            <a:solidFill>
              <a:schemeClr val="tx1">
                <a:lumMod val="20000"/>
                <a:lumOff val="80000"/>
              </a:schemeClr>
            </a:solidFill>
            <a:ln w="9525" cap="flat">
              <a:noFill/>
              <a:prstDash val="solid"/>
              <a:miter/>
            </a:ln>
          </p:spPr>
          <p:txBody>
            <a:bodyPr rtlCol="0" anchor="ctr"/>
            <a:lstStyle/>
            <a:p>
              <a:endParaRPr lang="en-US" sz="900"/>
            </a:p>
          </p:txBody>
        </p:sp>
        <p:sp>
          <p:nvSpPr>
            <p:cNvPr id="6" name="Freeform 5">
              <a:extLst>
                <a:ext uri="{FF2B5EF4-FFF2-40B4-BE49-F238E27FC236}">
                  <a16:creationId xmlns:a16="http://schemas.microsoft.com/office/drawing/2014/main" id="{67ECB0A8-1707-0259-42BD-749CD4D61A0A}"/>
                </a:ext>
              </a:extLst>
            </p:cNvPr>
            <p:cNvSpPr/>
            <p:nvPr/>
          </p:nvSpPr>
          <p:spPr>
            <a:xfrm>
              <a:off x="11548810" y="5641487"/>
              <a:ext cx="1550996" cy="1595477"/>
            </a:xfrm>
            <a:custGeom>
              <a:avLst/>
              <a:gdLst>
                <a:gd name="connsiteX0" fmla="*/ 1360391 w 1550996"/>
                <a:gd name="connsiteY0" fmla="*/ 25888 h 1595477"/>
                <a:gd name="connsiteX1" fmla="*/ 568958 w 1550996"/>
                <a:gd name="connsiteY1" fmla="*/ 1110119 h 1595477"/>
                <a:gd name="connsiteX2" fmla="*/ 73658 w 1550996"/>
                <a:gd name="connsiteY2" fmla="*/ 885614 h 1595477"/>
                <a:gd name="connsiteX3" fmla="*/ 73658 w 1550996"/>
                <a:gd name="connsiteY3" fmla="*/ 1083068 h 1595477"/>
                <a:gd name="connsiteX4" fmla="*/ 514094 w 1550996"/>
                <a:gd name="connsiteY4" fmla="*/ 1511121 h 1595477"/>
                <a:gd name="connsiteX5" fmla="*/ 813370 w 1550996"/>
                <a:gd name="connsiteY5" fmla="*/ 1511121 h 1595477"/>
                <a:gd name="connsiteX6" fmla="*/ 1521744 w 1550996"/>
                <a:gd name="connsiteY6" fmla="*/ 234771 h 1595477"/>
                <a:gd name="connsiteX7" fmla="*/ 1360391 w 1550996"/>
                <a:gd name="connsiteY7" fmla="*/ 25888 h 1595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996" h="1595477">
                  <a:moveTo>
                    <a:pt x="1360391" y="25888"/>
                  </a:moveTo>
                  <a:cubicBezTo>
                    <a:pt x="1009775" y="279539"/>
                    <a:pt x="716215" y="684066"/>
                    <a:pt x="568958" y="1110119"/>
                  </a:cubicBezTo>
                  <a:cubicBezTo>
                    <a:pt x="429608" y="977912"/>
                    <a:pt x="288257" y="856277"/>
                    <a:pt x="73658" y="885614"/>
                  </a:cubicBezTo>
                  <a:cubicBezTo>
                    <a:pt x="-26354" y="899235"/>
                    <a:pt x="-22735" y="1065923"/>
                    <a:pt x="73658" y="1083068"/>
                  </a:cubicBezTo>
                  <a:cubicBezTo>
                    <a:pt x="270159" y="1118120"/>
                    <a:pt x="416558" y="1351101"/>
                    <a:pt x="514094" y="1511121"/>
                  </a:cubicBezTo>
                  <a:cubicBezTo>
                    <a:pt x="580007" y="1619706"/>
                    <a:pt x="749362" y="1627422"/>
                    <a:pt x="813370" y="1511121"/>
                  </a:cubicBezTo>
                  <a:cubicBezTo>
                    <a:pt x="1048828" y="1083639"/>
                    <a:pt x="1217039" y="625296"/>
                    <a:pt x="1521744" y="234771"/>
                  </a:cubicBezTo>
                  <a:cubicBezTo>
                    <a:pt x="1606231" y="126662"/>
                    <a:pt x="1493931" y="-70791"/>
                    <a:pt x="1360391" y="25888"/>
                  </a:cubicBezTo>
                  <a:close/>
                </a:path>
              </a:pathLst>
            </a:custGeom>
            <a:solidFill>
              <a:schemeClr val="accent1"/>
            </a:solidFill>
            <a:ln w="9525" cap="flat">
              <a:noFill/>
              <a:prstDash val="solid"/>
              <a:miter/>
            </a:ln>
          </p:spPr>
          <p:txBody>
            <a:bodyPr rtlCol="0" anchor="ctr"/>
            <a:lstStyle/>
            <a:p>
              <a:endParaRPr lang="en-US" sz="900"/>
            </a:p>
          </p:txBody>
        </p:sp>
      </p:grpSp>
      <p:grpSp>
        <p:nvGrpSpPr>
          <p:cNvPr id="7" name="Graphic 2">
            <a:extLst>
              <a:ext uri="{FF2B5EF4-FFF2-40B4-BE49-F238E27FC236}">
                <a16:creationId xmlns:a16="http://schemas.microsoft.com/office/drawing/2014/main" id="{9124861A-EEC1-78E8-AD90-0204A1C9CD95}"/>
              </a:ext>
            </a:extLst>
          </p:cNvPr>
          <p:cNvGrpSpPr/>
          <p:nvPr/>
        </p:nvGrpSpPr>
        <p:grpSpPr>
          <a:xfrm>
            <a:off x="904220" y="4013320"/>
            <a:ext cx="608317" cy="600165"/>
            <a:chOff x="11277853" y="5641487"/>
            <a:chExt cx="1821953" cy="1797537"/>
          </a:xfrm>
        </p:grpSpPr>
        <p:sp>
          <p:nvSpPr>
            <p:cNvPr id="8" name="Freeform 7">
              <a:extLst>
                <a:ext uri="{FF2B5EF4-FFF2-40B4-BE49-F238E27FC236}">
                  <a16:creationId xmlns:a16="http://schemas.microsoft.com/office/drawing/2014/main" id="{DDF0DCE4-D2F1-41C0-2D5E-54B87B94C0FA}"/>
                </a:ext>
              </a:extLst>
            </p:cNvPr>
            <p:cNvSpPr/>
            <p:nvPr/>
          </p:nvSpPr>
          <p:spPr>
            <a:xfrm>
              <a:off x="11277853" y="5754528"/>
              <a:ext cx="1684115" cy="1684496"/>
            </a:xfrm>
            <a:custGeom>
              <a:avLst/>
              <a:gdLst>
                <a:gd name="connsiteX0" fmla="*/ 1312069 w 1684115"/>
                <a:gd name="connsiteY0" fmla="*/ 0 h 1684496"/>
                <a:gd name="connsiteX1" fmla="*/ 372047 w 1684115"/>
                <a:gd name="connsiteY1" fmla="*/ 0 h 1684496"/>
                <a:gd name="connsiteX2" fmla="*/ 0 w 1684115"/>
                <a:gd name="connsiteY2" fmla="*/ 372142 h 1684496"/>
                <a:gd name="connsiteX3" fmla="*/ 0 w 1684115"/>
                <a:gd name="connsiteY3" fmla="*/ 1312069 h 1684496"/>
                <a:gd name="connsiteX4" fmla="*/ 371666 w 1684115"/>
                <a:gd name="connsiteY4" fmla="*/ 1684496 h 1684496"/>
                <a:gd name="connsiteX5" fmla="*/ 372047 w 1684115"/>
                <a:gd name="connsiteY5" fmla="*/ 1684496 h 1684496"/>
                <a:gd name="connsiteX6" fmla="*/ 1312069 w 1684115"/>
                <a:gd name="connsiteY6" fmla="*/ 1684496 h 1684496"/>
                <a:gd name="connsiteX7" fmla="*/ 1684116 w 1684115"/>
                <a:gd name="connsiteY7" fmla="*/ 1312450 h 1684496"/>
                <a:gd name="connsiteX8" fmla="*/ 1684116 w 1684115"/>
                <a:gd name="connsiteY8" fmla="*/ 372142 h 1684496"/>
                <a:gd name="connsiteX9" fmla="*/ 1312069 w 1684115"/>
                <a:gd name="connsiteY9" fmla="*/ 0 h 1684496"/>
                <a:gd name="connsiteX10" fmla="*/ 1478471 w 1684115"/>
                <a:gd name="connsiteY10" fmla="*/ 1106424 h 1684496"/>
                <a:gd name="connsiteX11" fmla="*/ 1106424 w 1684115"/>
                <a:gd name="connsiteY11" fmla="*/ 1478566 h 1684496"/>
                <a:gd name="connsiteX12" fmla="*/ 577596 w 1684115"/>
                <a:gd name="connsiteY12" fmla="*/ 1478566 h 1684496"/>
                <a:gd name="connsiteX13" fmla="*/ 206121 w 1684115"/>
                <a:gd name="connsiteY13" fmla="*/ 1106424 h 1684496"/>
                <a:gd name="connsiteX14" fmla="*/ 206121 w 1684115"/>
                <a:gd name="connsiteY14" fmla="*/ 577691 h 1684496"/>
                <a:gd name="connsiteX15" fmla="*/ 577596 w 1684115"/>
                <a:gd name="connsiteY15" fmla="*/ 205645 h 1684496"/>
                <a:gd name="connsiteX16" fmla="*/ 1106329 w 1684115"/>
                <a:gd name="connsiteY16" fmla="*/ 205645 h 1684496"/>
                <a:gd name="connsiteX17" fmla="*/ 1478376 w 1684115"/>
                <a:gd name="connsiteY17" fmla="*/ 577691 h 1684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84115" h="1684496">
                  <a:moveTo>
                    <a:pt x="1312069" y="0"/>
                  </a:moveTo>
                  <a:lnTo>
                    <a:pt x="372047" y="0"/>
                  </a:lnTo>
                  <a:cubicBezTo>
                    <a:pt x="166554" y="57"/>
                    <a:pt x="0" y="166649"/>
                    <a:pt x="0" y="372142"/>
                  </a:cubicBezTo>
                  <a:lnTo>
                    <a:pt x="0" y="1312069"/>
                  </a:lnTo>
                  <a:cubicBezTo>
                    <a:pt x="-209" y="1517542"/>
                    <a:pt x="166192" y="1684287"/>
                    <a:pt x="371666" y="1684496"/>
                  </a:cubicBezTo>
                  <a:cubicBezTo>
                    <a:pt x="371790" y="1684496"/>
                    <a:pt x="371923" y="1684496"/>
                    <a:pt x="372047" y="1684496"/>
                  </a:cubicBezTo>
                  <a:lnTo>
                    <a:pt x="1312069" y="1684496"/>
                  </a:lnTo>
                  <a:cubicBezTo>
                    <a:pt x="1517542" y="1684496"/>
                    <a:pt x="1684116" y="1517923"/>
                    <a:pt x="1684116" y="1312450"/>
                  </a:cubicBezTo>
                  <a:lnTo>
                    <a:pt x="1684116" y="372142"/>
                  </a:lnTo>
                  <a:cubicBezTo>
                    <a:pt x="1684116" y="166649"/>
                    <a:pt x="1517561" y="57"/>
                    <a:pt x="1312069" y="0"/>
                  </a:cubicBezTo>
                  <a:close/>
                  <a:moveTo>
                    <a:pt x="1478471" y="1106424"/>
                  </a:moveTo>
                  <a:cubicBezTo>
                    <a:pt x="1478471" y="1311916"/>
                    <a:pt x="1311917" y="1478509"/>
                    <a:pt x="1106424" y="1478566"/>
                  </a:cubicBezTo>
                  <a:lnTo>
                    <a:pt x="577596" y="1478566"/>
                  </a:lnTo>
                  <a:cubicBezTo>
                    <a:pt x="372332" y="1478194"/>
                    <a:pt x="206121" y="1311688"/>
                    <a:pt x="206121" y="1106424"/>
                  </a:cubicBezTo>
                  <a:lnTo>
                    <a:pt x="206121" y="577691"/>
                  </a:lnTo>
                  <a:cubicBezTo>
                    <a:pt x="206121" y="372437"/>
                    <a:pt x="372342" y="205959"/>
                    <a:pt x="577596" y="205645"/>
                  </a:cubicBezTo>
                  <a:lnTo>
                    <a:pt x="1106329" y="205645"/>
                  </a:lnTo>
                  <a:cubicBezTo>
                    <a:pt x="1311802" y="205645"/>
                    <a:pt x="1478376" y="372218"/>
                    <a:pt x="1478376" y="577691"/>
                  </a:cubicBezTo>
                  <a:close/>
                </a:path>
              </a:pathLst>
            </a:custGeom>
            <a:solidFill>
              <a:schemeClr val="tx1">
                <a:lumMod val="20000"/>
                <a:lumOff val="80000"/>
              </a:schemeClr>
            </a:solidFill>
            <a:ln w="9525" cap="flat">
              <a:noFill/>
              <a:prstDash val="solid"/>
              <a:miter/>
            </a:ln>
          </p:spPr>
          <p:txBody>
            <a:bodyPr rtlCol="0" anchor="ctr"/>
            <a:lstStyle/>
            <a:p>
              <a:endParaRPr lang="en-US" sz="900"/>
            </a:p>
          </p:txBody>
        </p:sp>
        <p:sp>
          <p:nvSpPr>
            <p:cNvPr id="9" name="Freeform 8">
              <a:extLst>
                <a:ext uri="{FF2B5EF4-FFF2-40B4-BE49-F238E27FC236}">
                  <a16:creationId xmlns:a16="http://schemas.microsoft.com/office/drawing/2014/main" id="{F64E4EDB-FD1D-9243-CA7A-308ACF740059}"/>
                </a:ext>
              </a:extLst>
            </p:cNvPr>
            <p:cNvSpPr/>
            <p:nvPr/>
          </p:nvSpPr>
          <p:spPr>
            <a:xfrm>
              <a:off x="11548810" y="5641487"/>
              <a:ext cx="1550996" cy="1595477"/>
            </a:xfrm>
            <a:custGeom>
              <a:avLst/>
              <a:gdLst>
                <a:gd name="connsiteX0" fmla="*/ 1360391 w 1550996"/>
                <a:gd name="connsiteY0" fmla="*/ 25888 h 1595477"/>
                <a:gd name="connsiteX1" fmla="*/ 568958 w 1550996"/>
                <a:gd name="connsiteY1" fmla="*/ 1110119 h 1595477"/>
                <a:gd name="connsiteX2" fmla="*/ 73658 w 1550996"/>
                <a:gd name="connsiteY2" fmla="*/ 885614 h 1595477"/>
                <a:gd name="connsiteX3" fmla="*/ 73658 w 1550996"/>
                <a:gd name="connsiteY3" fmla="*/ 1083068 h 1595477"/>
                <a:gd name="connsiteX4" fmla="*/ 514094 w 1550996"/>
                <a:gd name="connsiteY4" fmla="*/ 1511121 h 1595477"/>
                <a:gd name="connsiteX5" fmla="*/ 813370 w 1550996"/>
                <a:gd name="connsiteY5" fmla="*/ 1511121 h 1595477"/>
                <a:gd name="connsiteX6" fmla="*/ 1521744 w 1550996"/>
                <a:gd name="connsiteY6" fmla="*/ 234771 h 1595477"/>
                <a:gd name="connsiteX7" fmla="*/ 1360391 w 1550996"/>
                <a:gd name="connsiteY7" fmla="*/ 25888 h 1595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996" h="1595477">
                  <a:moveTo>
                    <a:pt x="1360391" y="25888"/>
                  </a:moveTo>
                  <a:cubicBezTo>
                    <a:pt x="1009775" y="279539"/>
                    <a:pt x="716215" y="684066"/>
                    <a:pt x="568958" y="1110119"/>
                  </a:cubicBezTo>
                  <a:cubicBezTo>
                    <a:pt x="429608" y="977912"/>
                    <a:pt x="288257" y="856277"/>
                    <a:pt x="73658" y="885614"/>
                  </a:cubicBezTo>
                  <a:cubicBezTo>
                    <a:pt x="-26354" y="899235"/>
                    <a:pt x="-22735" y="1065923"/>
                    <a:pt x="73658" y="1083068"/>
                  </a:cubicBezTo>
                  <a:cubicBezTo>
                    <a:pt x="270159" y="1118120"/>
                    <a:pt x="416558" y="1351101"/>
                    <a:pt x="514094" y="1511121"/>
                  </a:cubicBezTo>
                  <a:cubicBezTo>
                    <a:pt x="580007" y="1619706"/>
                    <a:pt x="749362" y="1627422"/>
                    <a:pt x="813370" y="1511121"/>
                  </a:cubicBezTo>
                  <a:cubicBezTo>
                    <a:pt x="1048828" y="1083639"/>
                    <a:pt x="1217039" y="625296"/>
                    <a:pt x="1521744" y="234771"/>
                  </a:cubicBezTo>
                  <a:cubicBezTo>
                    <a:pt x="1606231" y="126662"/>
                    <a:pt x="1493931" y="-70791"/>
                    <a:pt x="1360391" y="25888"/>
                  </a:cubicBezTo>
                  <a:close/>
                </a:path>
              </a:pathLst>
            </a:custGeom>
            <a:solidFill>
              <a:schemeClr val="accent2"/>
            </a:solidFill>
            <a:ln w="9525" cap="flat">
              <a:noFill/>
              <a:prstDash val="solid"/>
              <a:miter/>
            </a:ln>
          </p:spPr>
          <p:txBody>
            <a:bodyPr rtlCol="0" anchor="ctr"/>
            <a:lstStyle/>
            <a:p>
              <a:endParaRPr lang="en-US" sz="900"/>
            </a:p>
          </p:txBody>
        </p:sp>
      </p:grpSp>
      <p:grpSp>
        <p:nvGrpSpPr>
          <p:cNvPr id="10" name="Graphic 2">
            <a:extLst>
              <a:ext uri="{FF2B5EF4-FFF2-40B4-BE49-F238E27FC236}">
                <a16:creationId xmlns:a16="http://schemas.microsoft.com/office/drawing/2014/main" id="{59EAB4AE-1675-935C-DFDE-3C870FDA6B28}"/>
              </a:ext>
            </a:extLst>
          </p:cNvPr>
          <p:cNvGrpSpPr/>
          <p:nvPr/>
        </p:nvGrpSpPr>
        <p:grpSpPr>
          <a:xfrm>
            <a:off x="904220" y="5359972"/>
            <a:ext cx="608317" cy="600165"/>
            <a:chOff x="11277853" y="5641487"/>
            <a:chExt cx="1821953" cy="1797537"/>
          </a:xfrm>
        </p:grpSpPr>
        <p:sp>
          <p:nvSpPr>
            <p:cNvPr id="11" name="Freeform 10">
              <a:extLst>
                <a:ext uri="{FF2B5EF4-FFF2-40B4-BE49-F238E27FC236}">
                  <a16:creationId xmlns:a16="http://schemas.microsoft.com/office/drawing/2014/main" id="{2F967B0D-E0A8-B908-AD35-1DAD05F0FD81}"/>
                </a:ext>
              </a:extLst>
            </p:cNvPr>
            <p:cNvSpPr/>
            <p:nvPr/>
          </p:nvSpPr>
          <p:spPr>
            <a:xfrm>
              <a:off x="11277853" y="5754528"/>
              <a:ext cx="1684115" cy="1684496"/>
            </a:xfrm>
            <a:custGeom>
              <a:avLst/>
              <a:gdLst>
                <a:gd name="connsiteX0" fmla="*/ 1312069 w 1684115"/>
                <a:gd name="connsiteY0" fmla="*/ 0 h 1684496"/>
                <a:gd name="connsiteX1" fmla="*/ 372047 w 1684115"/>
                <a:gd name="connsiteY1" fmla="*/ 0 h 1684496"/>
                <a:gd name="connsiteX2" fmla="*/ 0 w 1684115"/>
                <a:gd name="connsiteY2" fmla="*/ 372142 h 1684496"/>
                <a:gd name="connsiteX3" fmla="*/ 0 w 1684115"/>
                <a:gd name="connsiteY3" fmla="*/ 1312069 h 1684496"/>
                <a:gd name="connsiteX4" fmla="*/ 371666 w 1684115"/>
                <a:gd name="connsiteY4" fmla="*/ 1684496 h 1684496"/>
                <a:gd name="connsiteX5" fmla="*/ 372047 w 1684115"/>
                <a:gd name="connsiteY5" fmla="*/ 1684496 h 1684496"/>
                <a:gd name="connsiteX6" fmla="*/ 1312069 w 1684115"/>
                <a:gd name="connsiteY6" fmla="*/ 1684496 h 1684496"/>
                <a:gd name="connsiteX7" fmla="*/ 1684116 w 1684115"/>
                <a:gd name="connsiteY7" fmla="*/ 1312450 h 1684496"/>
                <a:gd name="connsiteX8" fmla="*/ 1684116 w 1684115"/>
                <a:gd name="connsiteY8" fmla="*/ 372142 h 1684496"/>
                <a:gd name="connsiteX9" fmla="*/ 1312069 w 1684115"/>
                <a:gd name="connsiteY9" fmla="*/ 0 h 1684496"/>
                <a:gd name="connsiteX10" fmla="*/ 1478471 w 1684115"/>
                <a:gd name="connsiteY10" fmla="*/ 1106424 h 1684496"/>
                <a:gd name="connsiteX11" fmla="*/ 1106424 w 1684115"/>
                <a:gd name="connsiteY11" fmla="*/ 1478566 h 1684496"/>
                <a:gd name="connsiteX12" fmla="*/ 577596 w 1684115"/>
                <a:gd name="connsiteY12" fmla="*/ 1478566 h 1684496"/>
                <a:gd name="connsiteX13" fmla="*/ 206121 w 1684115"/>
                <a:gd name="connsiteY13" fmla="*/ 1106424 h 1684496"/>
                <a:gd name="connsiteX14" fmla="*/ 206121 w 1684115"/>
                <a:gd name="connsiteY14" fmla="*/ 577691 h 1684496"/>
                <a:gd name="connsiteX15" fmla="*/ 577596 w 1684115"/>
                <a:gd name="connsiteY15" fmla="*/ 205645 h 1684496"/>
                <a:gd name="connsiteX16" fmla="*/ 1106329 w 1684115"/>
                <a:gd name="connsiteY16" fmla="*/ 205645 h 1684496"/>
                <a:gd name="connsiteX17" fmla="*/ 1478376 w 1684115"/>
                <a:gd name="connsiteY17" fmla="*/ 577691 h 1684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84115" h="1684496">
                  <a:moveTo>
                    <a:pt x="1312069" y="0"/>
                  </a:moveTo>
                  <a:lnTo>
                    <a:pt x="372047" y="0"/>
                  </a:lnTo>
                  <a:cubicBezTo>
                    <a:pt x="166554" y="57"/>
                    <a:pt x="0" y="166649"/>
                    <a:pt x="0" y="372142"/>
                  </a:cubicBezTo>
                  <a:lnTo>
                    <a:pt x="0" y="1312069"/>
                  </a:lnTo>
                  <a:cubicBezTo>
                    <a:pt x="-209" y="1517542"/>
                    <a:pt x="166192" y="1684287"/>
                    <a:pt x="371666" y="1684496"/>
                  </a:cubicBezTo>
                  <a:cubicBezTo>
                    <a:pt x="371790" y="1684496"/>
                    <a:pt x="371923" y="1684496"/>
                    <a:pt x="372047" y="1684496"/>
                  </a:cubicBezTo>
                  <a:lnTo>
                    <a:pt x="1312069" y="1684496"/>
                  </a:lnTo>
                  <a:cubicBezTo>
                    <a:pt x="1517542" y="1684496"/>
                    <a:pt x="1684116" y="1517923"/>
                    <a:pt x="1684116" y="1312450"/>
                  </a:cubicBezTo>
                  <a:lnTo>
                    <a:pt x="1684116" y="372142"/>
                  </a:lnTo>
                  <a:cubicBezTo>
                    <a:pt x="1684116" y="166649"/>
                    <a:pt x="1517561" y="57"/>
                    <a:pt x="1312069" y="0"/>
                  </a:cubicBezTo>
                  <a:close/>
                  <a:moveTo>
                    <a:pt x="1478471" y="1106424"/>
                  </a:moveTo>
                  <a:cubicBezTo>
                    <a:pt x="1478471" y="1311916"/>
                    <a:pt x="1311917" y="1478509"/>
                    <a:pt x="1106424" y="1478566"/>
                  </a:cubicBezTo>
                  <a:lnTo>
                    <a:pt x="577596" y="1478566"/>
                  </a:lnTo>
                  <a:cubicBezTo>
                    <a:pt x="372332" y="1478194"/>
                    <a:pt x="206121" y="1311688"/>
                    <a:pt x="206121" y="1106424"/>
                  </a:cubicBezTo>
                  <a:lnTo>
                    <a:pt x="206121" y="577691"/>
                  </a:lnTo>
                  <a:cubicBezTo>
                    <a:pt x="206121" y="372437"/>
                    <a:pt x="372342" y="205959"/>
                    <a:pt x="577596" y="205645"/>
                  </a:cubicBezTo>
                  <a:lnTo>
                    <a:pt x="1106329" y="205645"/>
                  </a:lnTo>
                  <a:cubicBezTo>
                    <a:pt x="1311802" y="205645"/>
                    <a:pt x="1478376" y="372218"/>
                    <a:pt x="1478376" y="577691"/>
                  </a:cubicBezTo>
                  <a:close/>
                </a:path>
              </a:pathLst>
            </a:custGeom>
            <a:solidFill>
              <a:schemeClr val="tx1">
                <a:lumMod val="20000"/>
                <a:lumOff val="80000"/>
              </a:schemeClr>
            </a:solidFill>
            <a:ln w="9525" cap="flat">
              <a:noFill/>
              <a:prstDash val="solid"/>
              <a:miter/>
            </a:ln>
          </p:spPr>
          <p:txBody>
            <a:bodyPr rtlCol="0" anchor="ctr"/>
            <a:lstStyle/>
            <a:p>
              <a:endParaRPr lang="en-US" sz="900"/>
            </a:p>
          </p:txBody>
        </p:sp>
        <p:sp>
          <p:nvSpPr>
            <p:cNvPr id="12" name="Freeform 11">
              <a:extLst>
                <a:ext uri="{FF2B5EF4-FFF2-40B4-BE49-F238E27FC236}">
                  <a16:creationId xmlns:a16="http://schemas.microsoft.com/office/drawing/2014/main" id="{80652C38-2466-E726-CCCA-D434A7CB79E8}"/>
                </a:ext>
              </a:extLst>
            </p:cNvPr>
            <p:cNvSpPr/>
            <p:nvPr/>
          </p:nvSpPr>
          <p:spPr>
            <a:xfrm>
              <a:off x="11548810" y="5641487"/>
              <a:ext cx="1550996" cy="1595477"/>
            </a:xfrm>
            <a:custGeom>
              <a:avLst/>
              <a:gdLst>
                <a:gd name="connsiteX0" fmla="*/ 1360391 w 1550996"/>
                <a:gd name="connsiteY0" fmla="*/ 25888 h 1595477"/>
                <a:gd name="connsiteX1" fmla="*/ 568958 w 1550996"/>
                <a:gd name="connsiteY1" fmla="*/ 1110119 h 1595477"/>
                <a:gd name="connsiteX2" fmla="*/ 73658 w 1550996"/>
                <a:gd name="connsiteY2" fmla="*/ 885614 h 1595477"/>
                <a:gd name="connsiteX3" fmla="*/ 73658 w 1550996"/>
                <a:gd name="connsiteY3" fmla="*/ 1083068 h 1595477"/>
                <a:gd name="connsiteX4" fmla="*/ 514094 w 1550996"/>
                <a:gd name="connsiteY4" fmla="*/ 1511121 h 1595477"/>
                <a:gd name="connsiteX5" fmla="*/ 813370 w 1550996"/>
                <a:gd name="connsiteY5" fmla="*/ 1511121 h 1595477"/>
                <a:gd name="connsiteX6" fmla="*/ 1521744 w 1550996"/>
                <a:gd name="connsiteY6" fmla="*/ 234771 h 1595477"/>
                <a:gd name="connsiteX7" fmla="*/ 1360391 w 1550996"/>
                <a:gd name="connsiteY7" fmla="*/ 25888 h 1595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996" h="1595477">
                  <a:moveTo>
                    <a:pt x="1360391" y="25888"/>
                  </a:moveTo>
                  <a:cubicBezTo>
                    <a:pt x="1009775" y="279539"/>
                    <a:pt x="716215" y="684066"/>
                    <a:pt x="568958" y="1110119"/>
                  </a:cubicBezTo>
                  <a:cubicBezTo>
                    <a:pt x="429608" y="977912"/>
                    <a:pt x="288257" y="856277"/>
                    <a:pt x="73658" y="885614"/>
                  </a:cubicBezTo>
                  <a:cubicBezTo>
                    <a:pt x="-26354" y="899235"/>
                    <a:pt x="-22735" y="1065923"/>
                    <a:pt x="73658" y="1083068"/>
                  </a:cubicBezTo>
                  <a:cubicBezTo>
                    <a:pt x="270159" y="1118120"/>
                    <a:pt x="416558" y="1351101"/>
                    <a:pt x="514094" y="1511121"/>
                  </a:cubicBezTo>
                  <a:cubicBezTo>
                    <a:pt x="580007" y="1619706"/>
                    <a:pt x="749362" y="1627422"/>
                    <a:pt x="813370" y="1511121"/>
                  </a:cubicBezTo>
                  <a:cubicBezTo>
                    <a:pt x="1048828" y="1083639"/>
                    <a:pt x="1217039" y="625296"/>
                    <a:pt x="1521744" y="234771"/>
                  </a:cubicBezTo>
                  <a:cubicBezTo>
                    <a:pt x="1606231" y="126662"/>
                    <a:pt x="1493931" y="-70791"/>
                    <a:pt x="1360391" y="25888"/>
                  </a:cubicBezTo>
                  <a:close/>
                </a:path>
              </a:pathLst>
            </a:custGeom>
            <a:solidFill>
              <a:schemeClr val="accent3"/>
            </a:solidFill>
            <a:ln w="9525" cap="flat">
              <a:noFill/>
              <a:prstDash val="solid"/>
              <a:miter/>
            </a:ln>
          </p:spPr>
          <p:txBody>
            <a:bodyPr rtlCol="0" anchor="ctr"/>
            <a:lstStyle/>
            <a:p>
              <a:endParaRPr lang="en-US" sz="900"/>
            </a:p>
          </p:txBody>
        </p:sp>
      </p:grpSp>
      <p:grpSp>
        <p:nvGrpSpPr>
          <p:cNvPr id="13" name="Group 12">
            <a:extLst>
              <a:ext uri="{FF2B5EF4-FFF2-40B4-BE49-F238E27FC236}">
                <a16:creationId xmlns:a16="http://schemas.microsoft.com/office/drawing/2014/main" id="{C361DF96-4FB9-71DC-2B03-0AEE31498927}"/>
              </a:ext>
            </a:extLst>
          </p:cNvPr>
          <p:cNvGrpSpPr/>
          <p:nvPr/>
        </p:nvGrpSpPr>
        <p:grpSpPr>
          <a:xfrm>
            <a:off x="1710167" y="2721114"/>
            <a:ext cx="7068073" cy="754053"/>
            <a:chOff x="4464909" y="5227780"/>
            <a:chExt cx="3991529" cy="1508106"/>
          </a:xfrm>
        </p:grpSpPr>
        <p:sp>
          <p:nvSpPr>
            <p:cNvPr id="14" name="CuadroTexto 395">
              <a:extLst>
                <a:ext uri="{FF2B5EF4-FFF2-40B4-BE49-F238E27FC236}">
                  <a16:creationId xmlns:a16="http://schemas.microsoft.com/office/drawing/2014/main" id="{B5BB5CE3-1AC1-871A-0AB5-7346197E14DD}"/>
                </a:ext>
              </a:extLst>
            </p:cNvPr>
            <p:cNvSpPr txBox="1"/>
            <p:nvPr/>
          </p:nvSpPr>
          <p:spPr>
            <a:xfrm>
              <a:off x="4464909" y="5227780"/>
              <a:ext cx="3589307" cy="1169550"/>
            </a:xfrm>
            <a:prstGeom prst="rect">
              <a:avLst/>
            </a:prstGeom>
            <a:noFill/>
          </p:spPr>
          <p:txBody>
            <a:bodyPr wrap="square" rtlCol="0">
              <a:spAutoFit/>
            </a:bodyPr>
            <a:lstStyle/>
            <a:p>
              <a:r>
                <a:rPr lang="en-US" sz="1600" dirty="0">
                  <a:solidFill>
                    <a:schemeClr val="tx2"/>
                  </a:solidFill>
                  <a:latin typeface="Roboto Medium" panose="02000000000000000000" pitchFamily="2" charset="0"/>
                  <a:ea typeface="Roboto Medium" panose="02000000000000000000" pitchFamily="2" charset="0"/>
                  <a:cs typeface="Lato Semibold" panose="020F0502020204030203" pitchFamily="34" charset="0"/>
                </a:rPr>
                <a:t>Noise robust learning</a:t>
              </a:r>
            </a:p>
          </p:txBody>
        </p:sp>
        <p:sp>
          <p:nvSpPr>
            <p:cNvPr id="15" name="Rectangle 56">
              <a:extLst>
                <a:ext uri="{FF2B5EF4-FFF2-40B4-BE49-F238E27FC236}">
                  <a16:creationId xmlns:a16="http://schemas.microsoft.com/office/drawing/2014/main" id="{E156CFD7-D7EA-529F-9700-2A90973155E1}"/>
                </a:ext>
              </a:extLst>
            </p:cNvPr>
            <p:cNvSpPr/>
            <p:nvPr/>
          </p:nvSpPr>
          <p:spPr>
            <a:xfrm>
              <a:off x="4464911" y="5812556"/>
              <a:ext cx="3991527" cy="923330"/>
            </a:xfrm>
            <a:prstGeom prst="rect">
              <a:avLst/>
            </a:prstGeom>
          </p:spPr>
          <p:txBody>
            <a:bodyPr wrap="square">
              <a:spAutoFit/>
            </a:bodyPr>
            <a:lstStyle/>
            <a:p>
              <a:r>
                <a:rPr lang="en-US" sz="1200" dirty="0">
                  <a:latin typeface="Lato Light" panose="020F0502020204030203" pitchFamily="34" charset="0"/>
                  <a:ea typeface="Lato Light" panose="020F0502020204030203" pitchFamily="34" charset="0"/>
                  <a:cs typeface="Lato Light" panose="020F0502020204030203" pitchFamily="34" charset="0"/>
                </a:rPr>
                <a:t>What is noise robust learning? What are the different approaches?</a:t>
              </a:r>
            </a:p>
          </p:txBody>
        </p:sp>
      </p:grpSp>
      <p:grpSp>
        <p:nvGrpSpPr>
          <p:cNvPr id="16" name="Group 15">
            <a:extLst>
              <a:ext uri="{FF2B5EF4-FFF2-40B4-BE49-F238E27FC236}">
                <a16:creationId xmlns:a16="http://schemas.microsoft.com/office/drawing/2014/main" id="{FE1189F2-0C90-3C7A-6157-049A159BB5B1}"/>
              </a:ext>
            </a:extLst>
          </p:cNvPr>
          <p:cNvGrpSpPr/>
          <p:nvPr/>
        </p:nvGrpSpPr>
        <p:grpSpPr>
          <a:xfrm>
            <a:off x="1710167" y="3978331"/>
            <a:ext cx="8799337" cy="830997"/>
            <a:chOff x="4464909" y="5227780"/>
            <a:chExt cx="3991529" cy="1661994"/>
          </a:xfrm>
        </p:grpSpPr>
        <p:sp>
          <p:nvSpPr>
            <p:cNvPr id="17" name="CuadroTexto 395">
              <a:extLst>
                <a:ext uri="{FF2B5EF4-FFF2-40B4-BE49-F238E27FC236}">
                  <a16:creationId xmlns:a16="http://schemas.microsoft.com/office/drawing/2014/main" id="{931699A0-4E98-E6B1-BC7A-4D35FD1EBBD8}"/>
                </a:ext>
              </a:extLst>
            </p:cNvPr>
            <p:cNvSpPr txBox="1"/>
            <p:nvPr/>
          </p:nvSpPr>
          <p:spPr>
            <a:xfrm>
              <a:off x="4464909" y="5227780"/>
              <a:ext cx="3589307" cy="1661994"/>
            </a:xfrm>
            <a:prstGeom prst="rect">
              <a:avLst/>
            </a:prstGeom>
            <a:noFill/>
          </p:spPr>
          <p:txBody>
            <a:bodyPr wrap="square" rtlCol="0">
              <a:spAutoFit/>
            </a:bodyPr>
            <a:lstStyle/>
            <a:p>
              <a:r>
                <a:rPr lang="en-US" sz="1600" dirty="0">
                  <a:solidFill>
                    <a:schemeClr val="tx2"/>
                  </a:solidFill>
                  <a:latin typeface="Roboto Medium" panose="02000000000000000000" pitchFamily="2" charset="0"/>
                  <a:ea typeface="Roboto Medium" panose="02000000000000000000" pitchFamily="2" charset="0"/>
                  <a:cs typeface="Lato Semibold" panose="020F0502020204030203" pitchFamily="34" charset="0"/>
                </a:rPr>
                <a:t>Noise robust learning via Loss functions</a:t>
              </a:r>
            </a:p>
          </p:txBody>
        </p:sp>
        <p:sp>
          <p:nvSpPr>
            <p:cNvPr id="18" name="Rectangle 56">
              <a:extLst>
                <a:ext uri="{FF2B5EF4-FFF2-40B4-BE49-F238E27FC236}">
                  <a16:creationId xmlns:a16="http://schemas.microsoft.com/office/drawing/2014/main" id="{08C3B332-1A94-DECC-D066-8EF0655A625C}"/>
                </a:ext>
              </a:extLst>
            </p:cNvPr>
            <p:cNvSpPr/>
            <p:nvPr/>
          </p:nvSpPr>
          <p:spPr>
            <a:xfrm>
              <a:off x="4464911" y="5812556"/>
              <a:ext cx="3991527" cy="923330"/>
            </a:xfrm>
            <a:prstGeom prst="rect">
              <a:avLst/>
            </a:prstGeom>
          </p:spPr>
          <p:txBody>
            <a:bodyPr wrap="square">
              <a:spAutoFit/>
            </a:bodyPr>
            <a:lstStyle/>
            <a:p>
              <a:r>
                <a:rPr lang="en-US" sz="1200" dirty="0">
                  <a:latin typeface="Lato Light" panose="020F0502020204030203" pitchFamily="34" charset="0"/>
                  <a:ea typeface="Lato Light" panose="020F0502020204030203" pitchFamily="34" charset="0"/>
                  <a:cs typeface="Lato Light" panose="020F0502020204030203" pitchFamily="34" charset="0"/>
                </a:rPr>
                <a:t>What are some loss functions that aid noisy learning? How does noise robust learning work?</a:t>
              </a:r>
            </a:p>
          </p:txBody>
        </p:sp>
      </p:grpSp>
      <p:grpSp>
        <p:nvGrpSpPr>
          <p:cNvPr id="19" name="Group 18">
            <a:extLst>
              <a:ext uri="{FF2B5EF4-FFF2-40B4-BE49-F238E27FC236}">
                <a16:creationId xmlns:a16="http://schemas.microsoft.com/office/drawing/2014/main" id="{22B22C2F-556C-94EC-77A8-6D2856B69DC6}"/>
              </a:ext>
            </a:extLst>
          </p:cNvPr>
          <p:cNvGrpSpPr/>
          <p:nvPr/>
        </p:nvGrpSpPr>
        <p:grpSpPr>
          <a:xfrm>
            <a:off x="1710167" y="5271699"/>
            <a:ext cx="7068073" cy="754053"/>
            <a:chOff x="4464909" y="5227780"/>
            <a:chExt cx="3991529" cy="1508106"/>
          </a:xfrm>
        </p:grpSpPr>
        <p:sp>
          <p:nvSpPr>
            <p:cNvPr id="20" name="CuadroTexto 395">
              <a:extLst>
                <a:ext uri="{FF2B5EF4-FFF2-40B4-BE49-F238E27FC236}">
                  <a16:creationId xmlns:a16="http://schemas.microsoft.com/office/drawing/2014/main" id="{9D5BBD1A-ACDC-F13A-F205-03F5985331C3}"/>
                </a:ext>
              </a:extLst>
            </p:cNvPr>
            <p:cNvSpPr txBox="1"/>
            <p:nvPr/>
          </p:nvSpPr>
          <p:spPr>
            <a:xfrm>
              <a:off x="4464909" y="5227780"/>
              <a:ext cx="3589307" cy="677108"/>
            </a:xfrm>
            <a:prstGeom prst="rect">
              <a:avLst/>
            </a:prstGeom>
            <a:noFill/>
          </p:spPr>
          <p:txBody>
            <a:bodyPr wrap="square" rtlCol="0">
              <a:spAutoFit/>
            </a:bodyPr>
            <a:lstStyle/>
            <a:p>
              <a:r>
                <a:rPr lang="en-US" sz="1600" dirty="0">
                  <a:solidFill>
                    <a:schemeClr val="tx2"/>
                  </a:solidFill>
                  <a:latin typeface="Roboto Medium" panose="02000000000000000000" pitchFamily="2" charset="0"/>
                  <a:ea typeface="Roboto Medium" panose="02000000000000000000" pitchFamily="2" charset="0"/>
                  <a:cs typeface="Lato Semibold" panose="020F0502020204030203" pitchFamily="34" charset="0"/>
                </a:rPr>
                <a:t>Results</a:t>
              </a:r>
            </a:p>
          </p:txBody>
        </p:sp>
        <p:sp>
          <p:nvSpPr>
            <p:cNvPr id="21" name="Rectangle 56">
              <a:extLst>
                <a:ext uri="{FF2B5EF4-FFF2-40B4-BE49-F238E27FC236}">
                  <a16:creationId xmlns:a16="http://schemas.microsoft.com/office/drawing/2014/main" id="{EFDAF601-A842-A5E3-F73A-74B578A68CD5}"/>
                </a:ext>
              </a:extLst>
            </p:cNvPr>
            <p:cNvSpPr/>
            <p:nvPr/>
          </p:nvSpPr>
          <p:spPr>
            <a:xfrm>
              <a:off x="4464911" y="5812556"/>
              <a:ext cx="3991527" cy="923330"/>
            </a:xfrm>
            <a:prstGeom prst="rect">
              <a:avLst/>
            </a:prstGeom>
          </p:spPr>
          <p:txBody>
            <a:bodyPr wrap="square">
              <a:spAutoFit/>
            </a:bodyPr>
            <a:lstStyle/>
            <a:p>
              <a:r>
                <a:rPr lang="en-US" sz="1200" dirty="0">
                  <a:latin typeface="Lato Light" panose="020F0502020204030203" pitchFamily="34" charset="0"/>
                  <a:ea typeface="Lato Light" panose="020F0502020204030203" pitchFamily="34" charset="0"/>
                  <a:cs typeface="Lato Light" panose="020F0502020204030203" pitchFamily="34" charset="0"/>
                </a:rPr>
                <a:t>How does noise robust loss functions perform for different noise levels and noise types</a:t>
              </a:r>
            </a:p>
          </p:txBody>
        </p:sp>
      </p:grpSp>
    </p:spTree>
    <p:extLst>
      <p:ext uri="{BB962C8B-B14F-4D97-AF65-F5344CB8AC3E}">
        <p14:creationId xmlns:p14="http://schemas.microsoft.com/office/powerpoint/2010/main" val="1956935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D3A6A-22FD-1905-231D-F7562D981145}"/>
              </a:ext>
            </a:extLst>
          </p:cNvPr>
          <p:cNvSpPr>
            <a:spLocks noGrp="1"/>
          </p:cNvSpPr>
          <p:nvPr>
            <p:ph type="title"/>
          </p:nvPr>
        </p:nvSpPr>
        <p:spPr/>
        <p:txBody>
          <a:bodyPr/>
          <a:lstStyle/>
          <a:p>
            <a:r>
              <a:rPr lang="en-US" dirty="0"/>
              <a:t>Agenda</a:t>
            </a:r>
          </a:p>
        </p:txBody>
      </p:sp>
      <p:sp>
        <p:nvSpPr>
          <p:cNvPr id="4" name="Rectangle: Rounded Corners 8">
            <a:extLst>
              <a:ext uri="{FF2B5EF4-FFF2-40B4-BE49-F238E27FC236}">
                <a16:creationId xmlns:a16="http://schemas.microsoft.com/office/drawing/2014/main" id="{9F99902C-C4BB-8C2D-D9D2-90D82ED9407B}"/>
              </a:ext>
            </a:extLst>
          </p:cNvPr>
          <p:cNvSpPr/>
          <p:nvPr/>
        </p:nvSpPr>
        <p:spPr>
          <a:xfrm>
            <a:off x="690074" y="2156214"/>
            <a:ext cx="2711494" cy="3574026"/>
          </a:xfrm>
          <a:prstGeom prst="roundRect">
            <a:avLst>
              <a:gd name="adj" fmla="val 419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 name="Rectangle: Rounded Corners 8">
            <a:extLst>
              <a:ext uri="{FF2B5EF4-FFF2-40B4-BE49-F238E27FC236}">
                <a16:creationId xmlns:a16="http://schemas.microsoft.com/office/drawing/2014/main" id="{3C7090C0-30C9-CC3B-040E-A4EACBB0C606}"/>
              </a:ext>
            </a:extLst>
          </p:cNvPr>
          <p:cNvSpPr/>
          <p:nvPr/>
        </p:nvSpPr>
        <p:spPr>
          <a:xfrm>
            <a:off x="4863825" y="2156213"/>
            <a:ext cx="2803746" cy="3574017"/>
          </a:xfrm>
          <a:prstGeom prst="roundRect">
            <a:avLst>
              <a:gd name="adj" fmla="val 419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 name="Rectangle: Rounded Corners 8">
            <a:extLst>
              <a:ext uri="{FF2B5EF4-FFF2-40B4-BE49-F238E27FC236}">
                <a16:creationId xmlns:a16="http://schemas.microsoft.com/office/drawing/2014/main" id="{0E9A227C-664A-3EA7-41A9-4C8D3720D6B1}"/>
              </a:ext>
            </a:extLst>
          </p:cNvPr>
          <p:cNvSpPr/>
          <p:nvPr/>
        </p:nvSpPr>
        <p:spPr>
          <a:xfrm>
            <a:off x="9037576" y="2156213"/>
            <a:ext cx="2605784" cy="3574015"/>
          </a:xfrm>
          <a:prstGeom prst="roundRect">
            <a:avLst>
              <a:gd name="adj" fmla="val 419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Box 46">
            <a:extLst>
              <a:ext uri="{FF2B5EF4-FFF2-40B4-BE49-F238E27FC236}">
                <a16:creationId xmlns:a16="http://schemas.microsoft.com/office/drawing/2014/main" id="{0E26478E-CE59-86E2-F453-C077718010D2}"/>
              </a:ext>
            </a:extLst>
          </p:cNvPr>
          <p:cNvSpPr txBox="1">
            <a:spLocks noChangeArrowheads="1"/>
          </p:cNvSpPr>
          <p:nvPr/>
        </p:nvSpPr>
        <p:spPr bwMode="auto">
          <a:xfrm>
            <a:off x="935854" y="2429295"/>
            <a:ext cx="65513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1pPr>
            <a:lvl2pPr marL="742950" indent="-28575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2pPr>
            <a:lvl3pPr marL="11430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3pPr>
            <a:lvl4pPr marL="16002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4pPr>
            <a:lvl5pPr marL="20574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5pPr>
            <a:lvl6pPr marL="25146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6pPr>
            <a:lvl7pPr marL="29718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7pPr>
            <a:lvl8pPr marL="34290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8pPr>
            <a:lvl9pPr marL="38862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9pPr>
          </a:lstStyle>
          <a:p>
            <a:pPr eaLnBrk="1"/>
            <a:r>
              <a:rPr lang="en-US" altLang="en-US" dirty="0">
                <a:solidFill>
                  <a:schemeClr val="accent1"/>
                </a:solidFill>
                <a:latin typeface="Lato" panose="020F0502020204030203" pitchFamily="34" charset="0"/>
                <a:ea typeface="Lato" panose="020F0502020204030203" pitchFamily="34" charset="0"/>
                <a:cs typeface="Lato" panose="020F0502020204030203" pitchFamily="34" charset="0"/>
              </a:rPr>
              <a:t>01.</a:t>
            </a:r>
          </a:p>
        </p:txBody>
      </p:sp>
      <p:sp>
        <p:nvSpPr>
          <p:cNvPr id="8" name="TextBox 46">
            <a:extLst>
              <a:ext uri="{FF2B5EF4-FFF2-40B4-BE49-F238E27FC236}">
                <a16:creationId xmlns:a16="http://schemas.microsoft.com/office/drawing/2014/main" id="{8538DE37-8C29-5A02-63B0-8AAA903A4D13}"/>
              </a:ext>
            </a:extLst>
          </p:cNvPr>
          <p:cNvSpPr txBox="1">
            <a:spLocks noChangeArrowheads="1"/>
          </p:cNvSpPr>
          <p:nvPr/>
        </p:nvSpPr>
        <p:spPr bwMode="auto">
          <a:xfrm>
            <a:off x="935854" y="3061063"/>
            <a:ext cx="246571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1pPr>
            <a:lvl2pPr marL="742950" indent="-28575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2pPr>
            <a:lvl3pPr marL="11430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3pPr>
            <a:lvl4pPr marL="16002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4pPr>
            <a:lvl5pPr marL="20574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5pPr>
            <a:lvl6pPr marL="25146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6pPr>
            <a:lvl7pPr marL="29718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7pPr>
            <a:lvl8pPr marL="34290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8pPr>
            <a:lvl9pPr marL="38862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9pPr>
          </a:lstStyle>
          <a:p>
            <a:r>
              <a:rPr lang="en-US" sz="1800" dirty="0">
                <a:solidFill>
                  <a:schemeClr val="tx2"/>
                </a:solidFill>
                <a:latin typeface="Roboto Medium" panose="02000000000000000000" pitchFamily="2" charset="0"/>
                <a:ea typeface="Roboto Medium" panose="02000000000000000000" pitchFamily="2" charset="0"/>
                <a:cs typeface="Lato Semibold" panose="020F0502020204030203" pitchFamily="34" charset="0"/>
              </a:rPr>
              <a:t>Noise robust learning</a:t>
            </a:r>
          </a:p>
          <a:p>
            <a:pPr eaLnBrk="1"/>
            <a:endParaRPr lang="en-US" altLang="en-US" sz="1800" b="0" dirty="0">
              <a:solidFill>
                <a:schemeClr val="tx2"/>
              </a:solidFill>
              <a:latin typeface="Roboto Medium" panose="02000000000000000000" pitchFamily="2" charset="0"/>
              <a:ea typeface="Roboto Medium" panose="02000000000000000000" pitchFamily="2" charset="0"/>
              <a:cs typeface="Lato" panose="020F0502020204030203" pitchFamily="34" charset="0"/>
            </a:endParaRPr>
          </a:p>
        </p:txBody>
      </p:sp>
      <p:sp>
        <p:nvSpPr>
          <p:cNvPr id="9" name="TextBox 8">
            <a:extLst>
              <a:ext uri="{FF2B5EF4-FFF2-40B4-BE49-F238E27FC236}">
                <a16:creationId xmlns:a16="http://schemas.microsoft.com/office/drawing/2014/main" id="{43D6691B-7FEE-0FC9-6948-CF4E2B4C3801}"/>
              </a:ext>
            </a:extLst>
          </p:cNvPr>
          <p:cNvSpPr txBox="1"/>
          <p:nvPr/>
        </p:nvSpPr>
        <p:spPr>
          <a:xfrm>
            <a:off x="935854" y="3625383"/>
            <a:ext cx="2258450" cy="646331"/>
          </a:xfrm>
          <a:prstGeom prst="rect">
            <a:avLst/>
          </a:prstGeom>
          <a:noFill/>
        </p:spPr>
        <p:txBody>
          <a:bodyPr wrap="square" rtlCol="0">
            <a:spAutoFit/>
          </a:bodyPr>
          <a:lstStyle/>
          <a:p>
            <a:r>
              <a:rPr lang="en-US" sz="1200" dirty="0">
                <a:latin typeface="Lato Light" panose="020F0502020204030203" pitchFamily="34" charset="0"/>
                <a:ea typeface="Lato Light" panose="020F0502020204030203" pitchFamily="34" charset="0"/>
                <a:cs typeface="Lato Light" panose="020F0502020204030203" pitchFamily="34" charset="0"/>
              </a:rPr>
              <a:t>What is noise robust learning? What are the different approaches?</a:t>
            </a:r>
          </a:p>
        </p:txBody>
      </p:sp>
      <p:sp>
        <p:nvSpPr>
          <p:cNvPr id="10" name="TextBox 46">
            <a:extLst>
              <a:ext uri="{FF2B5EF4-FFF2-40B4-BE49-F238E27FC236}">
                <a16:creationId xmlns:a16="http://schemas.microsoft.com/office/drawing/2014/main" id="{E818EFD6-A032-1BAC-5D56-59C8E1F090D5}"/>
              </a:ext>
            </a:extLst>
          </p:cNvPr>
          <p:cNvSpPr txBox="1">
            <a:spLocks noChangeArrowheads="1"/>
          </p:cNvSpPr>
          <p:nvPr/>
        </p:nvSpPr>
        <p:spPr bwMode="auto">
          <a:xfrm>
            <a:off x="5109605" y="2429295"/>
            <a:ext cx="65513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1pPr>
            <a:lvl2pPr marL="742950" indent="-28575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2pPr>
            <a:lvl3pPr marL="11430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3pPr>
            <a:lvl4pPr marL="16002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4pPr>
            <a:lvl5pPr marL="20574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5pPr>
            <a:lvl6pPr marL="25146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6pPr>
            <a:lvl7pPr marL="29718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7pPr>
            <a:lvl8pPr marL="34290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8pPr>
            <a:lvl9pPr marL="38862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9pPr>
          </a:lstStyle>
          <a:p>
            <a:pPr eaLnBrk="1"/>
            <a:r>
              <a:rPr lang="en-US" altLang="en-US" dirty="0">
                <a:solidFill>
                  <a:schemeClr val="accent2"/>
                </a:solidFill>
                <a:latin typeface="Lato" panose="020F0502020204030203" pitchFamily="34" charset="0"/>
                <a:ea typeface="Lato" panose="020F0502020204030203" pitchFamily="34" charset="0"/>
                <a:cs typeface="Lato" panose="020F0502020204030203" pitchFamily="34" charset="0"/>
              </a:rPr>
              <a:t>02.</a:t>
            </a:r>
          </a:p>
        </p:txBody>
      </p:sp>
      <p:sp>
        <p:nvSpPr>
          <p:cNvPr id="11" name="TextBox 46">
            <a:extLst>
              <a:ext uri="{FF2B5EF4-FFF2-40B4-BE49-F238E27FC236}">
                <a16:creationId xmlns:a16="http://schemas.microsoft.com/office/drawing/2014/main" id="{DD38B465-882B-B21F-7363-141330A7E189}"/>
              </a:ext>
            </a:extLst>
          </p:cNvPr>
          <p:cNvSpPr txBox="1">
            <a:spLocks noChangeArrowheads="1"/>
          </p:cNvSpPr>
          <p:nvPr/>
        </p:nvSpPr>
        <p:spPr bwMode="auto">
          <a:xfrm>
            <a:off x="5109605" y="3061063"/>
            <a:ext cx="246888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1pPr>
            <a:lvl2pPr marL="742950" indent="-28575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2pPr>
            <a:lvl3pPr marL="11430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3pPr>
            <a:lvl4pPr marL="16002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4pPr>
            <a:lvl5pPr marL="20574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5pPr>
            <a:lvl6pPr marL="25146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6pPr>
            <a:lvl7pPr marL="29718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7pPr>
            <a:lvl8pPr marL="34290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8pPr>
            <a:lvl9pPr marL="38862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9pPr>
          </a:lstStyle>
          <a:p>
            <a:r>
              <a:rPr lang="en-US" sz="1800" dirty="0">
                <a:solidFill>
                  <a:schemeClr val="tx2"/>
                </a:solidFill>
                <a:latin typeface="Roboto Medium" panose="02000000000000000000" pitchFamily="2" charset="0"/>
                <a:ea typeface="Roboto Medium" panose="02000000000000000000" pitchFamily="2" charset="0"/>
                <a:cs typeface="Lato Semibold" panose="020F0502020204030203" pitchFamily="34" charset="0"/>
              </a:rPr>
              <a:t>Noise robust learning via Loss functions</a:t>
            </a:r>
          </a:p>
          <a:p>
            <a:endParaRPr lang="en-US" altLang="en-US" sz="1800" b="0" dirty="0">
              <a:solidFill>
                <a:schemeClr val="tx2"/>
              </a:solidFill>
              <a:latin typeface="Roboto Medium" panose="02000000000000000000" pitchFamily="2" charset="0"/>
              <a:ea typeface="Roboto Medium" panose="02000000000000000000" pitchFamily="2" charset="0"/>
              <a:cs typeface="Lato" panose="020F0502020204030203" pitchFamily="34" charset="0"/>
            </a:endParaRPr>
          </a:p>
        </p:txBody>
      </p:sp>
      <p:sp>
        <p:nvSpPr>
          <p:cNvPr id="12" name="TextBox 11">
            <a:extLst>
              <a:ext uri="{FF2B5EF4-FFF2-40B4-BE49-F238E27FC236}">
                <a16:creationId xmlns:a16="http://schemas.microsoft.com/office/drawing/2014/main" id="{131230DE-3E37-DAE5-6B50-94FFA7547AFA}"/>
              </a:ext>
            </a:extLst>
          </p:cNvPr>
          <p:cNvSpPr txBox="1"/>
          <p:nvPr/>
        </p:nvSpPr>
        <p:spPr>
          <a:xfrm>
            <a:off x="5109605" y="3818827"/>
            <a:ext cx="2210382" cy="830997"/>
          </a:xfrm>
          <a:prstGeom prst="rect">
            <a:avLst/>
          </a:prstGeom>
          <a:noFill/>
        </p:spPr>
        <p:txBody>
          <a:bodyPr wrap="square" rtlCol="0">
            <a:spAutoFit/>
          </a:bodyPr>
          <a:lstStyle/>
          <a:p>
            <a:r>
              <a:rPr lang="en-US" sz="1200" dirty="0">
                <a:latin typeface="Lato Light" panose="020F0502020204030203" pitchFamily="34" charset="0"/>
                <a:ea typeface="Lato Light" panose="020F0502020204030203" pitchFamily="34" charset="0"/>
                <a:cs typeface="Lato Light" panose="020F0502020204030203" pitchFamily="34" charset="0"/>
              </a:rPr>
              <a:t>What are some loss functions that aid noisy learning? How does noise robust learning work?</a:t>
            </a:r>
          </a:p>
        </p:txBody>
      </p:sp>
      <p:sp>
        <p:nvSpPr>
          <p:cNvPr id="13" name="TextBox 46">
            <a:extLst>
              <a:ext uri="{FF2B5EF4-FFF2-40B4-BE49-F238E27FC236}">
                <a16:creationId xmlns:a16="http://schemas.microsoft.com/office/drawing/2014/main" id="{182F47EA-67B8-7F9A-3D5C-E82046E6212A}"/>
              </a:ext>
            </a:extLst>
          </p:cNvPr>
          <p:cNvSpPr txBox="1">
            <a:spLocks noChangeArrowheads="1"/>
          </p:cNvSpPr>
          <p:nvPr/>
        </p:nvSpPr>
        <p:spPr bwMode="auto">
          <a:xfrm>
            <a:off x="9283356" y="2429295"/>
            <a:ext cx="65513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1pPr>
            <a:lvl2pPr marL="742950" indent="-28575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2pPr>
            <a:lvl3pPr marL="11430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3pPr>
            <a:lvl4pPr marL="16002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4pPr>
            <a:lvl5pPr marL="20574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5pPr>
            <a:lvl6pPr marL="25146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6pPr>
            <a:lvl7pPr marL="29718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7pPr>
            <a:lvl8pPr marL="34290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8pPr>
            <a:lvl9pPr marL="38862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9pPr>
          </a:lstStyle>
          <a:p>
            <a:pPr eaLnBrk="1"/>
            <a:r>
              <a:rPr lang="en-US" altLang="en-US" dirty="0">
                <a:solidFill>
                  <a:schemeClr val="accent3"/>
                </a:solidFill>
                <a:latin typeface="Lato" panose="020F0502020204030203" pitchFamily="34" charset="0"/>
                <a:ea typeface="Lato" panose="020F0502020204030203" pitchFamily="34" charset="0"/>
                <a:cs typeface="Lato" panose="020F0502020204030203" pitchFamily="34" charset="0"/>
              </a:rPr>
              <a:t>03.</a:t>
            </a:r>
          </a:p>
        </p:txBody>
      </p:sp>
      <p:sp>
        <p:nvSpPr>
          <p:cNvPr id="14" name="TextBox 46">
            <a:extLst>
              <a:ext uri="{FF2B5EF4-FFF2-40B4-BE49-F238E27FC236}">
                <a16:creationId xmlns:a16="http://schemas.microsoft.com/office/drawing/2014/main" id="{066A1A0A-E4D1-47B8-04E8-B4EBDC24AADF}"/>
              </a:ext>
            </a:extLst>
          </p:cNvPr>
          <p:cNvSpPr txBox="1">
            <a:spLocks noChangeArrowheads="1"/>
          </p:cNvSpPr>
          <p:nvPr/>
        </p:nvSpPr>
        <p:spPr bwMode="auto">
          <a:xfrm>
            <a:off x="9283356" y="3061063"/>
            <a:ext cx="14619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1pPr>
            <a:lvl2pPr marL="742950" indent="-28575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2pPr>
            <a:lvl3pPr marL="11430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3pPr>
            <a:lvl4pPr marL="16002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4pPr>
            <a:lvl5pPr marL="2057400" indent="-228600">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5pPr>
            <a:lvl6pPr marL="25146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6pPr>
            <a:lvl7pPr marL="29718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7pPr>
            <a:lvl8pPr marL="34290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8pPr>
            <a:lvl9pPr marL="3886200" indent="-228600" defTabSz="825500" eaLnBrk="0" fontAlgn="base" hangingPunct="0">
              <a:spcBef>
                <a:spcPct val="0"/>
              </a:spcBef>
              <a:spcAft>
                <a:spcPct val="0"/>
              </a:spcAft>
              <a:defRPr sz="3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sym typeface="Helvetica Neue" panose="02000503000000020004" pitchFamily="2" charset="0"/>
              </a:defRPr>
            </a:lvl9pPr>
          </a:lstStyle>
          <a:p>
            <a:r>
              <a:rPr lang="en-US" altLang="en-US" sz="1800" b="0" dirty="0">
                <a:solidFill>
                  <a:schemeClr val="tx2"/>
                </a:solidFill>
                <a:latin typeface="Roboto Medium" panose="02000000000000000000" pitchFamily="2" charset="0"/>
                <a:ea typeface="Roboto Medium" panose="02000000000000000000" pitchFamily="2" charset="0"/>
                <a:cs typeface="Lato" panose="020F0502020204030203" pitchFamily="34" charset="0"/>
              </a:rPr>
              <a:t>Results</a:t>
            </a:r>
          </a:p>
        </p:txBody>
      </p:sp>
      <p:sp>
        <p:nvSpPr>
          <p:cNvPr id="15" name="TextBox 14">
            <a:extLst>
              <a:ext uri="{FF2B5EF4-FFF2-40B4-BE49-F238E27FC236}">
                <a16:creationId xmlns:a16="http://schemas.microsoft.com/office/drawing/2014/main" id="{E1A15739-E0FA-B630-23DD-AE81DF2D3C2E}"/>
              </a:ext>
            </a:extLst>
          </p:cNvPr>
          <p:cNvSpPr txBox="1"/>
          <p:nvPr/>
        </p:nvSpPr>
        <p:spPr>
          <a:xfrm>
            <a:off x="9283356" y="3438230"/>
            <a:ext cx="2218570" cy="646331"/>
          </a:xfrm>
          <a:prstGeom prst="rect">
            <a:avLst/>
          </a:prstGeom>
          <a:noFill/>
        </p:spPr>
        <p:txBody>
          <a:bodyPr wrap="square" rtlCol="0">
            <a:spAutoFit/>
          </a:bodyPr>
          <a:lstStyle/>
          <a:p>
            <a:r>
              <a:rPr lang="en-US" sz="1200" dirty="0">
                <a:latin typeface="Lato Light" panose="020F0502020204030203" pitchFamily="34" charset="0"/>
                <a:ea typeface="Lato Light" panose="020F0502020204030203" pitchFamily="34" charset="0"/>
                <a:cs typeface="Lato Light" panose="020F0502020204030203" pitchFamily="34" charset="0"/>
              </a:rPr>
              <a:t>How does noise robust loss functions perform for different noise levels and noise types</a:t>
            </a:r>
          </a:p>
        </p:txBody>
      </p:sp>
      <p:cxnSp>
        <p:nvCxnSpPr>
          <p:cNvPr id="16" name="Straight Connector 15">
            <a:extLst>
              <a:ext uri="{FF2B5EF4-FFF2-40B4-BE49-F238E27FC236}">
                <a16:creationId xmlns:a16="http://schemas.microsoft.com/office/drawing/2014/main" id="{DC3517F8-04F3-5A83-EB43-99973EDF6C18}"/>
              </a:ext>
            </a:extLst>
          </p:cNvPr>
          <p:cNvCxnSpPr/>
          <p:nvPr/>
        </p:nvCxnSpPr>
        <p:spPr>
          <a:xfrm>
            <a:off x="3053984" y="2691486"/>
            <a:ext cx="347584"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CBDF371-3603-6A32-5509-4B551841C14A}"/>
              </a:ext>
            </a:extLst>
          </p:cNvPr>
          <p:cNvCxnSpPr/>
          <p:nvPr/>
        </p:nvCxnSpPr>
        <p:spPr>
          <a:xfrm>
            <a:off x="7319987" y="2700732"/>
            <a:ext cx="347584" cy="0"/>
          </a:xfrm>
          <a:prstGeom prst="line">
            <a:avLst/>
          </a:prstGeom>
          <a:ln w="889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BB187BA-9A72-DC6B-EC9B-54F5B6890D7A}"/>
              </a:ext>
            </a:extLst>
          </p:cNvPr>
          <p:cNvCxnSpPr/>
          <p:nvPr/>
        </p:nvCxnSpPr>
        <p:spPr>
          <a:xfrm>
            <a:off x="11295776" y="2700732"/>
            <a:ext cx="347584" cy="0"/>
          </a:xfrm>
          <a:prstGeom prst="line">
            <a:avLst/>
          </a:prstGeom>
          <a:ln w="889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4707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C3887-BC6A-9CB7-54DE-30EE7020BDE4}"/>
              </a:ext>
            </a:extLst>
          </p:cNvPr>
          <p:cNvSpPr>
            <a:spLocks noGrp="1"/>
          </p:cNvSpPr>
          <p:nvPr>
            <p:ph type="title"/>
          </p:nvPr>
        </p:nvSpPr>
        <p:spPr>
          <a:xfrm>
            <a:off x="838200" y="2766218"/>
            <a:ext cx="10515600" cy="1325563"/>
          </a:xfrm>
          <a:ln>
            <a:solidFill>
              <a:schemeClr val="accent1"/>
            </a:solidFill>
          </a:ln>
        </p:spPr>
        <p:txBody>
          <a:bodyPr/>
          <a:lstStyle/>
          <a:p>
            <a:pPr algn="ctr"/>
            <a:r>
              <a:rPr lang="en-US" dirty="0">
                <a:solidFill>
                  <a:schemeClr val="accent1">
                    <a:lumMod val="60000"/>
                    <a:lumOff val="40000"/>
                  </a:schemeClr>
                </a:solidFill>
              </a:rPr>
              <a:t>Noise robust learning</a:t>
            </a:r>
          </a:p>
        </p:txBody>
      </p:sp>
    </p:spTree>
    <p:extLst>
      <p:ext uri="{BB962C8B-B14F-4D97-AF65-F5344CB8AC3E}">
        <p14:creationId xmlns:p14="http://schemas.microsoft.com/office/powerpoint/2010/main" val="1171477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B1D27-C422-079C-C35E-26B099A3FF3D}"/>
              </a:ext>
            </a:extLst>
          </p:cNvPr>
          <p:cNvSpPr>
            <a:spLocks noGrp="1"/>
          </p:cNvSpPr>
          <p:nvPr>
            <p:ph type="title"/>
          </p:nvPr>
        </p:nvSpPr>
        <p:spPr>
          <a:xfrm>
            <a:off x="235780" y="279781"/>
            <a:ext cx="10515600" cy="1325563"/>
          </a:xfrm>
        </p:spPr>
        <p:txBody>
          <a:bodyPr/>
          <a:lstStyle/>
          <a:p>
            <a:r>
              <a:rPr lang="en-US" dirty="0"/>
              <a:t> Noisy labels</a:t>
            </a:r>
          </a:p>
        </p:txBody>
      </p:sp>
      <p:sp>
        <p:nvSpPr>
          <p:cNvPr id="3" name="Content Placeholder 2">
            <a:extLst>
              <a:ext uri="{FF2B5EF4-FFF2-40B4-BE49-F238E27FC236}">
                <a16:creationId xmlns:a16="http://schemas.microsoft.com/office/drawing/2014/main" id="{071D0D0C-A996-B9E6-1653-A1FC0E349D1B}"/>
              </a:ext>
            </a:extLst>
          </p:cNvPr>
          <p:cNvSpPr>
            <a:spLocks noGrp="1"/>
          </p:cNvSpPr>
          <p:nvPr>
            <p:ph idx="1"/>
          </p:nvPr>
        </p:nvSpPr>
        <p:spPr>
          <a:xfrm>
            <a:off x="3187768" y="1690688"/>
            <a:ext cx="4611624" cy="4351338"/>
          </a:xfrm>
        </p:spPr>
        <p:txBody>
          <a:bodyPr/>
          <a:lstStyle/>
          <a:p>
            <a:r>
              <a:rPr lang="en-US" dirty="0"/>
              <a:t>Crowdsourced Labelling</a:t>
            </a:r>
          </a:p>
          <a:p>
            <a:endParaRPr lang="en-US" dirty="0"/>
          </a:p>
          <a:p>
            <a:r>
              <a:rPr lang="en-US" dirty="0"/>
              <a:t>State-of-art Automated Labelling</a:t>
            </a:r>
          </a:p>
          <a:p>
            <a:pPr lvl="1"/>
            <a:r>
              <a:rPr lang="en-US" dirty="0"/>
              <a:t>Automated Labelling</a:t>
            </a:r>
          </a:p>
          <a:p>
            <a:pPr lvl="2"/>
            <a:r>
              <a:rPr lang="en-US" dirty="0"/>
              <a:t>Weak-supervised learning</a:t>
            </a:r>
          </a:p>
          <a:p>
            <a:pPr lvl="2"/>
            <a:r>
              <a:rPr lang="en-US" dirty="0"/>
              <a:t>Semi-supervised learning</a:t>
            </a:r>
          </a:p>
          <a:p>
            <a:pPr lvl="2"/>
            <a:r>
              <a:rPr lang="en-US" dirty="0"/>
              <a:t>Transfer labelling to generate pre-annotations </a:t>
            </a:r>
          </a:p>
          <a:p>
            <a:pPr lvl="2"/>
            <a:endParaRPr lang="en-US" dirty="0"/>
          </a:p>
        </p:txBody>
      </p:sp>
      <p:sp>
        <p:nvSpPr>
          <p:cNvPr id="4" name="Content Placeholder 2">
            <a:extLst>
              <a:ext uri="{FF2B5EF4-FFF2-40B4-BE49-F238E27FC236}">
                <a16:creationId xmlns:a16="http://schemas.microsoft.com/office/drawing/2014/main" id="{35EE0659-082B-4C17-12B8-891320E2CF40}"/>
              </a:ext>
            </a:extLst>
          </p:cNvPr>
          <p:cNvSpPr txBox="1">
            <a:spLocks/>
          </p:cNvSpPr>
          <p:nvPr/>
        </p:nvSpPr>
        <p:spPr>
          <a:xfrm>
            <a:off x="7888224" y="1699705"/>
            <a:ext cx="3950208" cy="4351338"/>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Inevitable Noisy labels</a:t>
            </a:r>
          </a:p>
          <a:p>
            <a:r>
              <a:rPr lang="en-IN" dirty="0"/>
              <a:t>human error example: tagging a song in the wrong genre</a:t>
            </a:r>
          </a:p>
          <a:p>
            <a:r>
              <a:rPr lang="en-US" dirty="0"/>
              <a:t>Model pre-annotation errors : </a:t>
            </a:r>
            <a:r>
              <a:rPr lang="en-IN" dirty="0"/>
              <a:t>errors in the automated labelling example: a sarcastic comment assigned a positive sentiment</a:t>
            </a:r>
          </a:p>
          <a:p>
            <a:r>
              <a:rPr lang="en-IN" dirty="0"/>
              <a:t>Errors in the data collection process. Some blur images are created in the data collection process</a:t>
            </a:r>
          </a:p>
          <a:p>
            <a:r>
              <a:rPr lang="en-US" dirty="0"/>
              <a:t>Ambiguous instances</a:t>
            </a:r>
          </a:p>
          <a:p>
            <a:endParaRPr lang="en-IN" dirty="0"/>
          </a:p>
          <a:p>
            <a:pPr lvl="1"/>
            <a:endParaRPr lang="en-US" dirty="0"/>
          </a:p>
          <a:p>
            <a:pPr lvl="1"/>
            <a:endParaRPr lang="en-US" dirty="0"/>
          </a:p>
          <a:p>
            <a:r>
              <a:rPr lang="en-US" dirty="0"/>
              <a:t>Types of noise</a:t>
            </a:r>
          </a:p>
          <a:p>
            <a:r>
              <a:rPr lang="en-IN" dirty="0"/>
              <a:t>Symmetric noise: Labels are randomly flipped to other classes with equal probability.</a:t>
            </a:r>
          </a:p>
          <a:p>
            <a:r>
              <a:rPr lang="en-IN" dirty="0"/>
              <a:t>• Asymmetric noise: </a:t>
            </a:r>
            <a:r>
              <a:rPr lang="en-IN" dirty="0" err="1"/>
              <a:t>Mislabeling</a:t>
            </a:r>
            <a:r>
              <a:rPr lang="en-IN" dirty="0"/>
              <a:t> occurs within related classes, such as categorizing a "car" as a "truck."</a:t>
            </a:r>
          </a:p>
          <a:p>
            <a:r>
              <a:rPr lang="en-IN" dirty="0"/>
              <a:t>• Instance-dependent noise (IDN): Noise correlates with data features; for example, low-quality images may</a:t>
            </a:r>
          </a:p>
          <a:p>
            <a:r>
              <a:rPr lang="en-IN" dirty="0"/>
              <a:t>have higher </a:t>
            </a:r>
            <a:r>
              <a:rPr lang="en-IN" dirty="0" err="1"/>
              <a:t>labeling</a:t>
            </a:r>
            <a:r>
              <a:rPr lang="en-IN" dirty="0"/>
              <a:t> errors.</a:t>
            </a:r>
          </a:p>
          <a:p>
            <a:r>
              <a:rPr lang="en-IN" dirty="0"/>
              <a:t>• Open-set noise: Labels do not correspond to any known classes, indicating a discrepancy between training</a:t>
            </a:r>
          </a:p>
          <a:p>
            <a:r>
              <a:rPr lang="en-IN" dirty="0"/>
              <a:t>data and real-world distributions.</a:t>
            </a:r>
          </a:p>
          <a:p>
            <a:endParaRPr lang="en-US" dirty="0"/>
          </a:p>
        </p:txBody>
      </p:sp>
      <p:sp>
        <p:nvSpPr>
          <p:cNvPr id="5" name="TextBox 4">
            <a:extLst>
              <a:ext uri="{FF2B5EF4-FFF2-40B4-BE49-F238E27FC236}">
                <a16:creationId xmlns:a16="http://schemas.microsoft.com/office/drawing/2014/main" id="{9221D3BF-6A58-5565-767A-E67B379A0371}"/>
              </a:ext>
            </a:extLst>
          </p:cNvPr>
          <p:cNvSpPr txBox="1"/>
          <p:nvPr/>
        </p:nvSpPr>
        <p:spPr>
          <a:xfrm>
            <a:off x="403624" y="1690688"/>
            <a:ext cx="2519408" cy="646331"/>
          </a:xfrm>
          <a:prstGeom prst="rect">
            <a:avLst/>
          </a:prstGeom>
          <a:noFill/>
        </p:spPr>
        <p:txBody>
          <a:bodyPr wrap="none" rtlCol="0">
            <a:spAutoFit/>
          </a:bodyPr>
          <a:lstStyle/>
          <a:p>
            <a:r>
              <a:rPr lang="en-US" sz="3600" dirty="0"/>
              <a:t>Cat or Dog?</a:t>
            </a:r>
          </a:p>
        </p:txBody>
      </p:sp>
      <p:pic>
        <p:nvPicPr>
          <p:cNvPr id="1028" name="Picture 4" descr="Cat Dog Hybrid created on Craiyon">
            <a:extLst>
              <a:ext uri="{FF2B5EF4-FFF2-40B4-BE49-F238E27FC236}">
                <a16:creationId xmlns:a16="http://schemas.microsoft.com/office/drawing/2014/main" id="{495C478E-D2A2-BA75-81B3-6C88A9FCA1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720" y="2729404"/>
            <a:ext cx="2871216" cy="2871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1355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09F4C-5010-EEAF-08E5-2C2E8274FF2C}"/>
              </a:ext>
            </a:extLst>
          </p:cNvPr>
          <p:cNvSpPr>
            <a:spLocks noGrp="1"/>
          </p:cNvSpPr>
          <p:nvPr>
            <p:ph type="title"/>
          </p:nvPr>
        </p:nvSpPr>
        <p:spPr/>
        <p:txBody>
          <a:bodyPr/>
          <a:lstStyle/>
          <a:p>
            <a:r>
              <a:rPr lang="en-US" dirty="0"/>
              <a:t>Learning despite noisy labels: Approaches</a:t>
            </a:r>
          </a:p>
        </p:txBody>
      </p:sp>
      <p:pic>
        <p:nvPicPr>
          <p:cNvPr id="2050" name="Picture 2">
            <a:extLst>
              <a:ext uri="{FF2B5EF4-FFF2-40B4-BE49-F238E27FC236}">
                <a16:creationId xmlns:a16="http://schemas.microsoft.com/office/drawing/2014/main" id="{5FFFF5B7-E554-BBCF-AA57-BA5BCDE843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674" y="1552367"/>
            <a:ext cx="11299521" cy="375326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D7CBAB2-EEBC-5B39-E066-F2613504E530}"/>
              </a:ext>
            </a:extLst>
          </p:cNvPr>
          <p:cNvSpPr txBox="1"/>
          <p:nvPr/>
        </p:nvSpPr>
        <p:spPr>
          <a:xfrm>
            <a:off x="1075394" y="6072238"/>
            <a:ext cx="7910110" cy="369332"/>
          </a:xfrm>
          <a:prstGeom prst="rect">
            <a:avLst/>
          </a:prstGeom>
          <a:noFill/>
        </p:spPr>
        <p:txBody>
          <a:bodyPr wrap="square">
            <a:spAutoFit/>
          </a:bodyPr>
          <a:lstStyle/>
          <a:p>
            <a:r>
              <a:rPr lang="en-US" dirty="0">
                <a:hlinkClick r:id="rId3"/>
              </a:rPr>
              <a:t>https://github.com/songhwanjun/Awesome-Noisy-Labels/tree/main</a:t>
            </a:r>
            <a:r>
              <a:rPr lang="en-US" dirty="0"/>
              <a:t> </a:t>
            </a:r>
          </a:p>
        </p:txBody>
      </p:sp>
    </p:spTree>
    <p:extLst>
      <p:ext uri="{BB962C8B-B14F-4D97-AF65-F5344CB8AC3E}">
        <p14:creationId xmlns:p14="http://schemas.microsoft.com/office/powerpoint/2010/main" val="1615390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6B39D-BB33-8160-9F49-23001C4B97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9F9933-8356-0DCE-DEAA-E3214D0A5A5B}"/>
              </a:ext>
            </a:extLst>
          </p:cNvPr>
          <p:cNvSpPr>
            <a:spLocks noGrp="1"/>
          </p:cNvSpPr>
          <p:nvPr>
            <p:ph type="title"/>
          </p:nvPr>
        </p:nvSpPr>
        <p:spPr>
          <a:xfrm>
            <a:off x="838200" y="2766218"/>
            <a:ext cx="10515600" cy="1325563"/>
          </a:xfrm>
          <a:ln>
            <a:solidFill>
              <a:schemeClr val="accent1"/>
            </a:solidFill>
          </a:ln>
        </p:spPr>
        <p:txBody>
          <a:bodyPr/>
          <a:lstStyle/>
          <a:p>
            <a:pPr algn="ctr"/>
            <a:r>
              <a:rPr lang="en-US" dirty="0">
                <a:solidFill>
                  <a:schemeClr val="accent1">
                    <a:lumMod val="60000"/>
                    <a:lumOff val="40000"/>
                  </a:schemeClr>
                </a:solidFill>
              </a:rPr>
              <a:t>Noise robust learning via loss functions</a:t>
            </a:r>
          </a:p>
        </p:txBody>
      </p:sp>
    </p:spTree>
    <p:extLst>
      <p:ext uri="{BB962C8B-B14F-4D97-AF65-F5344CB8AC3E}">
        <p14:creationId xmlns:p14="http://schemas.microsoft.com/office/powerpoint/2010/main" val="1333693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F2CC2-BACB-1175-F3D9-B70B18AEA3BE}"/>
              </a:ext>
            </a:extLst>
          </p:cNvPr>
          <p:cNvSpPr>
            <a:spLocks noGrp="1"/>
          </p:cNvSpPr>
          <p:nvPr>
            <p:ph type="title"/>
          </p:nvPr>
        </p:nvSpPr>
        <p:spPr/>
        <p:txBody>
          <a:bodyPr/>
          <a:lstStyle/>
          <a:p>
            <a:r>
              <a:rPr lang="en-US" dirty="0"/>
              <a:t>Loss function Approach</a:t>
            </a:r>
          </a:p>
        </p:txBody>
      </p:sp>
      <p:sp>
        <p:nvSpPr>
          <p:cNvPr id="3" name="Content Placeholder 2">
            <a:extLst>
              <a:ext uri="{FF2B5EF4-FFF2-40B4-BE49-F238E27FC236}">
                <a16:creationId xmlns:a16="http://schemas.microsoft.com/office/drawing/2014/main" id="{9ACF2B6D-F447-EC5A-17E8-62293B892FB9}"/>
              </a:ext>
            </a:extLst>
          </p:cNvPr>
          <p:cNvSpPr>
            <a:spLocks noGrp="1"/>
          </p:cNvSpPr>
          <p:nvPr>
            <p:ph idx="1"/>
          </p:nvPr>
        </p:nvSpPr>
        <p:spPr>
          <a:xfrm>
            <a:off x="838200" y="1825625"/>
            <a:ext cx="3355848" cy="4500224"/>
          </a:xfrm>
        </p:spPr>
        <p:txBody>
          <a:bodyPr>
            <a:normAutofit fontScale="77500" lnSpcReduction="20000"/>
          </a:bodyPr>
          <a:lstStyle/>
          <a:p>
            <a:r>
              <a:rPr lang="en-IN" b="1" dirty="0"/>
              <a:t>Fundamental premise</a:t>
            </a:r>
            <a:r>
              <a:rPr lang="en-IN" dirty="0"/>
              <a:t>: Modify the optimization objective itself rather than the model architecture or data.</a:t>
            </a:r>
          </a:p>
          <a:p>
            <a:r>
              <a:rPr lang="en-IN" dirty="0"/>
              <a:t>modifies the mathematical function that calculates the penalty for an error.</a:t>
            </a:r>
          </a:p>
          <a:p>
            <a:r>
              <a:rPr lang="en-IN" dirty="0"/>
              <a:t>The goal is to </a:t>
            </a:r>
            <a:r>
              <a:rPr lang="en-IN" b="1" dirty="0"/>
              <a:t>bound the influence of large errors</a:t>
            </a:r>
            <a:r>
              <a:rPr lang="en-IN" dirty="0"/>
              <a:t> (outliers/noise) on the gradient, preventing them from dominating the optimization process.</a:t>
            </a:r>
            <a:endParaRPr lang="en-US" dirty="0"/>
          </a:p>
        </p:txBody>
      </p:sp>
      <p:graphicFrame>
        <p:nvGraphicFramePr>
          <p:cNvPr id="8" name="Table 7">
            <a:extLst>
              <a:ext uri="{FF2B5EF4-FFF2-40B4-BE49-F238E27FC236}">
                <a16:creationId xmlns:a16="http://schemas.microsoft.com/office/drawing/2014/main" id="{EC5406E9-2330-5742-673F-D537618C868D}"/>
              </a:ext>
            </a:extLst>
          </p:cNvPr>
          <p:cNvGraphicFramePr>
            <a:graphicFrameLocks noGrp="1"/>
          </p:cNvGraphicFramePr>
          <p:nvPr>
            <p:extLst>
              <p:ext uri="{D42A27DB-BD31-4B8C-83A1-F6EECF244321}">
                <p14:modId xmlns:p14="http://schemas.microsoft.com/office/powerpoint/2010/main" val="791645502"/>
              </p:ext>
            </p:extLst>
          </p:nvPr>
        </p:nvGraphicFramePr>
        <p:xfrm>
          <a:off x="5411235" y="2731221"/>
          <a:ext cx="6433185" cy="2251710"/>
        </p:xfrm>
        <a:graphic>
          <a:graphicData uri="http://schemas.openxmlformats.org/drawingml/2006/table">
            <a:tbl>
              <a:tblPr/>
              <a:tblGrid>
                <a:gridCol w="2818365">
                  <a:extLst>
                    <a:ext uri="{9D8B030D-6E8A-4147-A177-3AD203B41FA5}">
                      <a16:colId xmlns:a16="http://schemas.microsoft.com/office/drawing/2014/main" val="1286351689"/>
                    </a:ext>
                  </a:extLst>
                </a:gridCol>
                <a:gridCol w="3614820">
                  <a:extLst>
                    <a:ext uri="{9D8B030D-6E8A-4147-A177-3AD203B41FA5}">
                      <a16:colId xmlns:a16="http://schemas.microsoft.com/office/drawing/2014/main" val="4209145826"/>
                    </a:ext>
                  </a:extLst>
                </a:gridCol>
              </a:tblGrid>
              <a:tr h="0">
                <a:tc>
                  <a:txBody>
                    <a:bodyPr/>
                    <a:lstStyle/>
                    <a:p>
                      <a:pPr>
                        <a:spcBef>
                          <a:spcPts val="38"/>
                        </a:spcBef>
                        <a:spcAft>
                          <a:spcPts val="38"/>
                        </a:spcAft>
                        <a:buNone/>
                      </a:pPr>
                      <a:r>
                        <a:rPr lang="en-IN" b="1" dirty="0">
                          <a:effectLst/>
                          <a:latin typeface="Helvetica" pitchFamily="2" charset="0"/>
                        </a:rPr>
                        <a:t>Robust Loss Functions</a:t>
                      </a:r>
                      <a:endParaRPr lang="en-IN" dirty="0">
                        <a:effectLst/>
                        <a:latin typeface="Helvetica" pitchFamily="2" charset="0"/>
                      </a:endParaRPr>
                    </a:p>
                  </a:txBody>
                  <a:tcPr marL="9525" marR="9525" marT="9525" marB="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spcBef>
                          <a:spcPts val="38"/>
                        </a:spcBef>
                        <a:spcAft>
                          <a:spcPts val="38"/>
                        </a:spcAft>
                        <a:buNone/>
                      </a:pPr>
                      <a:r>
                        <a:rPr lang="en-IN" b="1" dirty="0">
                          <a:effectLst/>
                          <a:latin typeface="Helvetica" pitchFamily="2" charset="0"/>
                        </a:rPr>
                        <a:t>Other Approaches (Reg., Sampling, Arch.)</a:t>
                      </a:r>
                      <a:endParaRPr lang="en-IN" dirty="0">
                        <a:effectLst/>
                        <a:latin typeface="Helvetica" pitchFamily="2" charset="0"/>
                      </a:endParaRPr>
                    </a:p>
                  </a:txBody>
                  <a:tcPr marL="9525" marR="9525" marT="9525" marB="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6589148"/>
                  </a:ext>
                </a:extLst>
              </a:tr>
              <a:tr h="0">
                <a:tc>
                  <a:txBody>
                    <a:bodyPr/>
                    <a:lstStyle/>
                    <a:p>
                      <a:pPr>
                        <a:spcBef>
                          <a:spcPts val="38"/>
                        </a:spcBef>
                        <a:spcAft>
                          <a:spcPts val="38"/>
                        </a:spcAft>
                        <a:buNone/>
                      </a:pPr>
                      <a:r>
                        <a:rPr lang="en-IN">
                          <a:effectLst/>
                          <a:latin typeface="Helvetica" pitchFamily="2" charset="0"/>
                        </a:rPr>
                        <a:t>The </a:t>
                      </a:r>
                      <a:r>
                        <a:rPr lang="en-IN" b="1">
                          <a:effectLst/>
                          <a:latin typeface="Helvetica" pitchFamily="2" charset="0"/>
                        </a:rPr>
                        <a:t>Objective Function</a:t>
                      </a:r>
                      <a:r>
                        <a:rPr lang="en-IN">
                          <a:effectLst/>
                          <a:latin typeface="Helvetica" pitchFamily="2" charset="0"/>
                        </a:rPr>
                        <a:t> $L(y, \hat{y})$</a:t>
                      </a:r>
                    </a:p>
                  </a:txBody>
                  <a:tcPr marL="9525" marR="9525" marT="9525" marB="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spcBef>
                          <a:spcPts val="38"/>
                        </a:spcBef>
                        <a:spcAft>
                          <a:spcPts val="38"/>
                        </a:spcAft>
                        <a:buNone/>
                      </a:pPr>
                      <a:r>
                        <a:rPr lang="en-IN" dirty="0">
                          <a:effectLst/>
                          <a:latin typeface="Helvetica" pitchFamily="2" charset="0"/>
                        </a:rPr>
                        <a:t>The </a:t>
                      </a:r>
                      <a:r>
                        <a:rPr lang="en-IN" b="1" dirty="0">
                          <a:effectLst/>
                          <a:latin typeface="Helvetica" pitchFamily="2" charset="0"/>
                        </a:rPr>
                        <a:t>Model/Data</a:t>
                      </a:r>
                      <a:r>
                        <a:rPr lang="en-IN" dirty="0">
                          <a:effectLst/>
                          <a:latin typeface="Helvetica" pitchFamily="2" charset="0"/>
                        </a:rPr>
                        <a:t> $\text{Net}(\</a:t>
                      </a:r>
                      <a:r>
                        <a:rPr lang="en-IN" dirty="0" err="1">
                          <a:effectLst/>
                          <a:latin typeface="Helvetica" pitchFamily="2" charset="0"/>
                        </a:rPr>
                        <a:t>mathbf</a:t>
                      </a:r>
                      <a:r>
                        <a:rPr lang="en-IN" dirty="0">
                          <a:effectLst/>
                          <a:latin typeface="Helvetica" pitchFamily="2" charset="0"/>
                        </a:rPr>
                        <a:t>{x})$ or the </a:t>
                      </a:r>
                      <a:r>
                        <a:rPr lang="en-IN" b="1" dirty="0">
                          <a:effectLst/>
                          <a:latin typeface="Helvetica" pitchFamily="2" charset="0"/>
                        </a:rPr>
                        <a:t>Training Set</a:t>
                      </a:r>
                      <a:r>
                        <a:rPr lang="en-IN" dirty="0">
                          <a:effectLst/>
                          <a:latin typeface="Helvetica" pitchFamily="2" charset="0"/>
                        </a:rPr>
                        <a:t> $D$</a:t>
                      </a:r>
                    </a:p>
                  </a:txBody>
                  <a:tcPr marL="9525" marR="9525" marT="9525" marB="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08970629"/>
                  </a:ext>
                </a:extLst>
              </a:tr>
              <a:tr h="0">
                <a:tc>
                  <a:txBody>
                    <a:bodyPr/>
                    <a:lstStyle/>
                    <a:p>
                      <a:pPr>
                        <a:spcBef>
                          <a:spcPts val="38"/>
                        </a:spcBef>
                        <a:spcAft>
                          <a:spcPts val="38"/>
                        </a:spcAft>
                        <a:buNone/>
                      </a:pPr>
                      <a:r>
                        <a:rPr lang="en-IN" b="1">
                          <a:effectLst/>
                          <a:latin typeface="Helvetica" pitchFamily="2" charset="0"/>
                        </a:rPr>
                        <a:t>Limits the gradient</a:t>
                      </a:r>
                      <a:r>
                        <a:rPr lang="en-IN">
                          <a:effectLst/>
                          <a:latin typeface="Helvetica" pitchFamily="2" charset="0"/>
                        </a:rPr>
                        <a:t> contribution of outliers.</a:t>
                      </a:r>
                    </a:p>
                  </a:txBody>
                  <a:tcPr marL="9525" marR="9525" marT="9525" marB="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spcBef>
                          <a:spcPts val="38"/>
                        </a:spcBef>
                        <a:spcAft>
                          <a:spcPts val="38"/>
                        </a:spcAft>
                        <a:buNone/>
                      </a:pPr>
                      <a:r>
                        <a:rPr lang="en-IN" b="1" dirty="0">
                          <a:effectLst/>
                          <a:latin typeface="Helvetica" pitchFamily="2" charset="0"/>
                        </a:rPr>
                        <a:t>Limits the model's capacity</a:t>
                      </a:r>
                      <a:r>
                        <a:rPr lang="en-IN" dirty="0">
                          <a:effectLst/>
                          <a:latin typeface="Helvetica" pitchFamily="2" charset="0"/>
                        </a:rPr>
                        <a:t> to memorize noise or </a:t>
                      </a:r>
                      <a:r>
                        <a:rPr lang="en-IN" b="1" dirty="0">
                          <a:effectLst/>
                          <a:latin typeface="Helvetica" pitchFamily="2" charset="0"/>
                        </a:rPr>
                        <a:t>removes the noisy sample</a:t>
                      </a:r>
                      <a:r>
                        <a:rPr lang="en-IN" dirty="0">
                          <a:effectLst/>
                          <a:latin typeface="Helvetica" pitchFamily="2" charset="0"/>
                        </a:rPr>
                        <a:t> from the training set.</a:t>
                      </a:r>
                    </a:p>
                  </a:txBody>
                  <a:tcPr marL="9525" marR="9525" marT="9525" marB="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4580746"/>
                  </a:ext>
                </a:extLst>
              </a:tr>
            </a:tbl>
          </a:graphicData>
        </a:graphic>
      </p:graphicFrame>
    </p:spTree>
    <p:extLst>
      <p:ext uri="{BB962C8B-B14F-4D97-AF65-F5344CB8AC3E}">
        <p14:creationId xmlns:p14="http://schemas.microsoft.com/office/powerpoint/2010/main" val="3139245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76F33-A66C-C617-A1A5-C26471BFC519}"/>
              </a:ext>
            </a:extLst>
          </p:cNvPr>
          <p:cNvSpPr>
            <a:spLocks noGrp="1"/>
          </p:cNvSpPr>
          <p:nvPr>
            <p:ph type="title"/>
          </p:nvPr>
        </p:nvSpPr>
        <p:spPr/>
        <p:txBody>
          <a:bodyPr/>
          <a:lstStyle/>
          <a:p>
            <a:r>
              <a:rPr lang="en-US" dirty="0"/>
              <a:t>Loss function approach: How robustness is achieved</a:t>
            </a:r>
          </a:p>
        </p:txBody>
      </p:sp>
      <p:sp>
        <p:nvSpPr>
          <p:cNvPr id="3" name="Content Placeholder 2">
            <a:extLst>
              <a:ext uri="{FF2B5EF4-FFF2-40B4-BE49-F238E27FC236}">
                <a16:creationId xmlns:a16="http://schemas.microsoft.com/office/drawing/2014/main" id="{384DE061-460E-8EF4-87C1-0850A0CE0C72}"/>
              </a:ext>
            </a:extLst>
          </p:cNvPr>
          <p:cNvSpPr>
            <a:spLocks noGrp="1"/>
          </p:cNvSpPr>
          <p:nvPr>
            <p:ph idx="1"/>
          </p:nvPr>
        </p:nvSpPr>
        <p:spPr>
          <a:xfrm>
            <a:off x="740664" y="1965833"/>
            <a:ext cx="5087112" cy="4351338"/>
          </a:xfrm>
        </p:spPr>
        <p:txBody>
          <a:bodyPr/>
          <a:lstStyle/>
          <a:p>
            <a:r>
              <a:rPr lang="en-US" dirty="0"/>
              <a:t>Symmetric noise</a:t>
            </a:r>
          </a:p>
          <a:p>
            <a:r>
              <a:rPr lang="en-US" dirty="0"/>
              <a:t>Loss function with symmetry property</a:t>
            </a:r>
          </a:p>
        </p:txBody>
      </p:sp>
      <p:sp>
        <p:nvSpPr>
          <p:cNvPr id="4" name="Content Placeholder 2">
            <a:extLst>
              <a:ext uri="{FF2B5EF4-FFF2-40B4-BE49-F238E27FC236}">
                <a16:creationId xmlns:a16="http://schemas.microsoft.com/office/drawing/2014/main" id="{D6F4A336-9D60-D7D2-639A-DF51E8CFC055}"/>
              </a:ext>
            </a:extLst>
          </p:cNvPr>
          <p:cNvSpPr txBox="1">
            <a:spLocks/>
          </p:cNvSpPr>
          <p:nvPr/>
        </p:nvSpPr>
        <p:spPr>
          <a:xfrm>
            <a:off x="5925312" y="1965833"/>
            <a:ext cx="5087112" cy="3764407"/>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Asymmetric noise</a:t>
            </a:r>
          </a:p>
          <a:p>
            <a:r>
              <a:rPr lang="en-IN" b="1" dirty="0"/>
              <a:t>Loss function with asymmetry property :</a:t>
            </a:r>
            <a:r>
              <a:rPr lang="en-IN" dirty="0"/>
              <a:t> A loss function is defined as asymmetric if minimizing the weighted sum of losses (where weights correspond to label probabilities) yields the same optimal solution as minimizing the loss for the single class with the highest weight</a:t>
            </a:r>
            <a:r>
              <a:rPr lang="en-IN" dirty="0">
                <a:solidFill>
                  <a:srgbClr val="303030"/>
                </a:solidFill>
                <a:latin typeface="Google Sans Text"/>
              </a:rPr>
              <a:t> </a:t>
            </a:r>
          </a:p>
          <a:p>
            <a:r>
              <a:rPr lang="en-IN" dirty="0"/>
              <a:t>By focusing on the dominant weight, the contribution of noisy labels (which have smaller weights) is effectively eliminated from the classifier learning process</a:t>
            </a:r>
          </a:p>
          <a:p>
            <a:r>
              <a:rPr lang="en-IN" b="1" dirty="0"/>
              <a:t>clean-labels-domination assumption</a:t>
            </a:r>
            <a:r>
              <a:rPr lang="en-IN" dirty="0"/>
              <a:t>.</a:t>
            </a:r>
          </a:p>
          <a:p>
            <a:pPr lvl="1"/>
            <a:r>
              <a:rPr lang="en-IN" dirty="0">
                <a:solidFill>
                  <a:srgbClr val="303030"/>
                </a:solidFill>
                <a:latin typeface="Google Sans Text"/>
              </a:rPr>
              <a:t>operating under a "largest-takes-all" principle</a:t>
            </a:r>
            <a:endParaRPr lang="en-US" dirty="0"/>
          </a:p>
          <a:p>
            <a:endParaRPr lang="en-US" dirty="0"/>
          </a:p>
          <a:p>
            <a:endParaRPr lang="en-US" dirty="0"/>
          </a:p>
        </p:txBody>
      </p:sp>
      <p:pic>
        <p:nvPicPr>
          <p:cNvPr id="5" name="Picture 4">
            <a:extLst>
              <a:ext uri="{FF2B5EF4-FFF2-40B4-BE49-F238E27FC236}">
                <a16:creationId xmlns:a16="http://schemas.microsoft.com/office/drawing/2014/main" id="{EE20BDDF-6157-6073-343B-71B7151F9996}"/>
              </a:ext>
            </a:extLst>
          </p:cNvPr>
          <p:cNvPicPr>
            <a:picLocks noChangeAspect="1"/>
          </p:cNvPicPr>
          <p:nvPr/>
        </p:nvPicPr>
        <p:blipFill>
          <a:blip r:embed="rId2"/>
          <a:stretch>
            <a:fillRect/>
          </a:stretch>
        </p:blipFill>
        <p:spPr>
          <a:xfrm>
            <a:off x="1191768" y="3429000"/>
            <a:ext cx="2794000" cy="1104900"/>
          </a:xfrm>
          <a:prstGeom prst="rect">
            <a:avLst/>
          </a:prstGeom>
        </p:spPr>
      </p:pic>
      <p:sp>
        <p:nvSpPr>
          <p:cNvPr id="6" name="TextBox 5">
            <a:extLst>
              <a:ext uri="{FF2B5EF4-FFF2-40B4-BE49-F238E27FC236}">
                <a16:creationId xmlns:a16="http://schemas.microsoft.com/office/drawing/2014/main" id="{F3CE4C88-04F5-1417-85D3-E836FC8B522A}"/>
              </a:ext>
            </a:extLst>
          </p:cNvPr>
          <p:cNvSpPr txBox="1"/>
          <p:nvPr/>
        </p:nvSpPr>
        <p:spPr>
          <a:xfrm>
            <a:off x="740664" y="5855506"/>
            <a:ext cx="5798062" cy="923330"/>
          </a:xfrm>
          <a:prstGeom prst="rect">
            <a:avLst/>
          </a:prstGeom>
          <a:noFill/>
        </p:spPr>
        <p:txBody>
          <a:bodyPr wrap="none" rtlCol="0">
            <a:spAutoFit/>
          </a:bodyPr>
          <a:lstStyle/>
          <a:p>
            <a:r>
              <a:rPr lang="en-US" dirty="0"/>
              <a:t>Problem opportunities:</a:t>
            </a:r>
          </a:p>
          <a:p>
            <a:pPr marL="342900" indent="-342900">
              <a:buAutoNum type="arabicParenR"/>
            </a:pPr>
            <a:r>
              <a:rPr lang="en-US" dirty="0"/>
              <a:t>Improve the performance for symmetric noise</a:t>
            </a:r>
          </a:p>
          <a:p>
            <a:pPr marL="342900" indent="-342900">
              <a:buAutoNum type="arabicParenR"/>
            </a:pPr>
            <a:r>
              <a:rPr lang="en-US" dirty="0"/>
              <a:t>Improve the performance with asymmetric high noise</a:t>
            </a:r>
          </a:p>
        </p:txBody>
      </p:sp>
    </p:spTree>
    <p:extLst>
      <p:ext uri="{BB962C8B-B14F-4D97-AF65-F5344CB8AC3E}">
        <p14:creationId xmlns:p14="http://schemas.microsoft.com/office/powerpoint/2010/main" val="4248146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643B9-6014-E4F0-4E62-559B534F2BBE}"/>
              </a:ext>
            </a:extLst>
          </p:cNvPr>
          <p:cNvSpPr>
            <a:spLocks noGrp="1"/>
          </p:cNvSpPr>
          <p:nvPr>
            <p:ph type="title"/>
          </p:nvPr>
        </p:nvSpPr>
        <p:spPr/>
        <p:txBody>
          <a:bodyPr/>
          <a:lstStyle/>
          <a:p>
            <a:r>
              <a:rPr lang="en-US" dirty="0"/>
              <a:t>Three noise robust Loss functions</a:t>
            </a:r>
          </a:p>
        </p:txBody>
      </p:sp>
      <p:sp>
        <p:nvSpPr>
          <p:cNvPr id="3" name="Content Placeholder 2">
            <a:extLst>
              <a:ext uri="{FF2B5EF4-FFF2-40B4-BE49-F238E27FC236}">
                <a16:creationId xmlns:a16="http://schemas.microsoft.com/office/drawing/2014/main" id="{62CC46CD-C926-4896-EF63-46A3E032704C}"/>
              </a:ext>
            </a:extLst>
          </p:cNvPr>
          <p:cNvSpPr>
            <a:spLocks noGrp="1"/>
          </p:cNvSpPr>
          <p:nvPr>
            <p:ph idx="1"/>
          </p:nvPr>
        </p:nvSpPr>
        <p:spPr>
          <a:xfrm>
            <a:off x="838200" y="1825625"/>
            <a:ext cx="2996178" cy="4351338"/>
          </a:xfrm>
        </p:spPr>
        <p:txBody>
          <a:bodyPr/>
          <a:lstStyle/>
          <a:p>
            <a:pPr marL="0" indent="0">
              <a:buNone/>
            </a:pPr>
            <a:r>
              <a:rPr lang="en-US" dirty="0"/>
              <a:t>MAE</a:t>
            </a:r>
          </a:p>
        </p:txBody>
      </p:sp>
      <p:cxnSp>
        <p:nvCxnSpPr>
          <p:cNvPr id="5" name="Straight Connector 4">
            <a:extLst>
              <a:ext uri="{FF2B5EF4-FFF2-40B4-BE49-F238E27FC236}">
                <a16:creationId xmlns:a16="http://schemas.microsoft.com/office/drawing/2014/main" id="{3E6D41E8-3E02-71C4-9718-5C08B18BD32E}"/>
              </a:ext>
            </a:extLst>
          </p:cNvPr>
          <p:cNvCxnSpPr/>
          <p:nvPr/>
        </p:nvCxnSpPr>
        <p:spPr>
          <a:xfrm>
            <a:off x="4230624" y="1584960"/>
            <a:ext cx="0" cy="4730496"/>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18DD1C51-F206-4FD6-21B2-CCBFBDE2E177}"/>
              </a:ext>
            </a:extLst>
          </p:cNvPr>
          <p:cNvPicPr>
            <a:picLocks noChangeAspect="1"/>
          </p:cNvPicPr>
          <p:nvPr/>
        </p:nvPicPr>
        <p:blipFill>
          <a:blip r:embed="rId2"/>
          <a:stretch>
            <a:fillRect/>
          </a:stretch>
        </p:blipFill>
        <p:spPr>
          <a:xfrm>
            <a:off x="4605020" y="2657475"/>
            <a:ext cx="3378200" cy="850900"/>
          </a:xfrm>
          <a:prstGeom prst="rect">
            <a:avLst/>
          </a:prstGeom>
        </p:spPr>
      </p:pic>
      <p:cxnSp>
        <p:nvCxnSpPr>
          <p:cNvPr id="7" name="Straight Connector 6">
            <a:extLst>
              <a:ext uri="{FF2B5EF4-FFF2-40B4-BE49-F238E27FC236}">
                <a16:creationId xmlns:a16="http://schemas.microsoft.com/office/drawing/2014/main" id="{E3A8FF70-18EF-8433-FF78-A7ECF1D6CA08}"/>
              </a:ext>
            </a:extLst>
          </p:cNvPr>
          <p:cNvCxnSpPr/>
          <p:nvPr/>
        </p:nvCxnSpPr>
        <p:spPr>
          <a:xfrm>
            <a:off x="8199120" y="1446467"/>
            <a:ext cx="0" cy="4730496"/>
          </a:xfrm>
          <a:prstGeom prst="line">
            <a:avLst/>
          </a:prstGeom>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66C57CE8-AEE7-4D49-1203-B70629ADC24F}"/>
              </a:ext>
            </a:extLst>
          </p:cNvPr>
          <p:cNvSpPr txBox="1"/>
          <p:nvPr/>
        </p:nvSpPr>
        <p:spPr>
          <a:xfrm>
            <a:off x="5047488" y="1866511"/>
            <a:ext cx="1475228" cy="369332"/>
          </a:xfrm>
          <a:prstGeom prst="rect">
            <a:avLst/>
          </a:prstGeom>
          <a:noFill/>
        </p:spPr>
        <p:txBody>
          <a:bodyPr wrap="square">
            <a:spAutoFit/>
          </a:bodyPr>
          <a:lstStyle/>
          <a:p>
            <a:r>
              <a:rPr lang="en-US" dirty="0"/>
              <a:t>AGCE</a:t>
            </a:r>
          </a:p>
        </p:txBody>
      </p:sp>
      <p:pic>
        <p:nvPicPr>
          <p:cNvPr id="10" name="Picture 9">
            <a:extLst>
              <a:ext uri="{FF2B5EF4-FFF2-40B4-BE49-F238E27FC236}">
                <a16:creationId xmlns:a16="http://schemas.microsoft.com/office/drawing/2014/main" id="{6DBC15CC-E28B-358D-952B-57E2F8C12F39}"/>
              </a:ext>
            </a:extLst>
          </p:cNvPr>
          <p:cNvPicPr>
            <a:picLocks noChangeAspect="1"/>
          </p:cNvPicPr>
          <p:nvPr/>
        </p:nvPicPr>
        <p:blipFill>
          <a:blip r:embed="rId3"/>
          <a:stretch>
            <a:fillRect/>
          </a:stretch>
        </p:blipFill>
        <p:spPr>
          <a:xfrm>
            <a:off x="8357615" y="2657475"/>
            <a:ext cx="3704843" cy="1066800"/>
          </a:xfrm>
          <a:prstGeom prst="rect">
            <a:avLst/>
          </a:prstGeom>
        </p:spPr>
      </p:pic>
      <p:sp>
        <p:nvSpPr>
          <p:cNvPr id="12" name="TextBox 11">
            <a:extLst>
              <a:ext uri="{FF2B5EF4-FFF2-40B4-BE49-F238E27FC236}">
                <a16:creationId xmlns:a16="http://schemas.microsoft.com/office/drawing/2014/main" id="{00C030F1-4F6B-B274-B2A9-898FF489D35D}"/>
              </a:ext>
            </a:extLst>
          </p:cNvPr>
          <p:cNvSpPr txBox="1"/>
          <p:nvPr/>
        </p:nvSpPr>
        <p:spPr>
          <a:xfrm>
            <a:off x="8583168" y="1804749"/>
            <a:ext cx="1996439" cy="369332"/>
          </a:xfrm>
          <a:prstGeom prst="rect">
            <a:avLst/>
          </a:prstGeom>
          <a:noFill/>
        </p:spPr>
        <p:txBody>
          <a:bodyPr wrap="square">
            <a:spAutoFit/>
          </a:bodyPr>
          <a:lstStyle/>
          <a:p>
            <a:r>
              <a:rPr lang="en-US" dirty="0"/>
              <a:t>Bi-tempered loss</a:t>
            </a:r>
          </a:p>
        </p:txBody>
      </p:sp>
      <p:pic>
        <p:nvPicPr>
          <p:cNvPr id="13" name="Picture 12">
            <a:extLst>
              <a:ext uri="{FF2B5EF4-FFF2-40B4-BE49-F238E27FC236}">
                <a16:creationId xmlns:a16="http://schemas.microsoft.com/office/drawing/2014/main" id="{565A32A7-989F-8F38-E994-3A6CA32998E0}"/>
              </a:ext>
            </a:extLst>
          </p:cNvPr>
          <p:cNvPicPr>
            <a:picLocks noChangeAspect="1"/>
          </p:cNvPicPr>
          <p:nvPr/>
        </p:nvPicPr>
        <p:blipFill>
          <a:blip r:embed="rId4"/>
          <a:stretch>
            <a:fillRect/>
          </a:stretch>
        </p:blipFill>
        <p:spPr>
          <a:xfrm>
            <a:off x="5286249" y="3811715"/>
            <a:ext cx="2336800" cy="596900"/>
          </a:xfrm>
          <a:prstGeom prst="rect">
            <a:avLst/>
          </a:prstGeom>
        </p:spPr>
      </p:pic>
    </p:spTree>
    <p:extLst>
      <p:ext uri="{BB962C8B-B14F-4D97-AF65-F5344CB8AC3E}">
        <p14:creationId xmlns:p14="http://schemas.microsoft.com/office/powerpoint/2010/main" val="1646274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31D5-D9C1-2695-6898-6246AA16F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76EE95-7D83-A76D-4763-9FA2CF3B1D77}"/>
              </a:ext>
            </a:extLst>
          </p:cNvPr>
          <p:cNvSpPr>
            <a:spLocks noGrp="1"/>
          </p:cNvSpPr>
          <p:nvPr>
            <p:ph type="title"/>
          </p:nvPr>
        </p:nvSpPr>
        <p:spPr>
          <a:xfrm>
            <a:off x="838200" y="2766218"/>
            <a:ext cx="10515600" cy="1325563"/>
          </a:xfrm>
          <a:ln>
            <a:solidFill>
              <a:schemeClr val="accent1"/>
            </a:solidFill>
          </a:ln>
        </p:spPr>
        <p:txBody>
          <a:bodyPr/>
          <a:lstStyle/>
          <a:p>
            <a:pPr algn="ctr"/>
            <a:r>
              <a:rPr lang="en-US" dirty="0">
                <a:solidFill>
                  <a:schemeClr val="accent1">
                    <a:lumMod val="60000"/>
                    <a:lumOff val="40000"/>
                  </a:schemeClr>
                </a:solidFill>
              </a:rPr>
              <a:t>Results</a:t>
            </a:r>
          </a:p>
        </p:txBody>
      </p:sp>
    </p:spTree>
    <p:extLst>
      <p:ext uri="{BB962C8B-B14F-4D97-AF65-F5344CB8AC3E}">
        <p14:creationId xmlns:p14="http://schemas.microsoft.com/office/powerpoint/2010/main" val="1639195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18CC5-3C61-5AC1-DE16-E7840A2B4016}"/>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ACDFCE2E-6ACF-2567-426C-2EEEFE9B7C09}"/>
              </a:ext>
            </a:extLst>
          </p:cNvPr>
          <p:cNvSpPr>
            <a:spLocks noGrp="1"/>
          </p:cNvSpPr>
          <p:nvPr>
            <p:ph idx="1"/>
          </p:nvPr>
        </p:nvSpPr>
        <p:spPr/>
        <p:txBody>
          <a:bodyPr/>
          <a:lstStyle/>
          <a:p>
            <a:r>
              <a:rPr lang="en-US" dirty="0"/>
              <a:t>MNIST dataset</a:t>
            </a:r>
          </a:p>
          <a:p>
            <a:r>
              <a:rPr lang="en-US" dirty="0"/>
              <a:t>Inject noise -&gt; train dataset</a:t>
            </a:r>
          </a:p>
          <a:p>
            <a:r>
              <a:rPr lang="en-US" dirty="0"/>
              <a:t>Clean dataset-&gt; test</a:t>
            </a:r>
          </a:p>
          <a:p>
            <a:r>
              <a:rPr lang="en-US" dirty="0"/>
              <a:t>Accuracy , f1 score metrics</a:t>
            </a:r>
          </a:p>
        </p:txBody>
      </p:sp>
    </p:spTree>
    <p:extLst>
      <p:ext uri="{BB962C8B-B14F-4D97-AF65-F5344CB8AC3E}">
        <p14:creationId xmlns:p14="http://schemas.microsoft.com/office/powerpoint/2010/main" val="62744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684D3-BD17-B0E5-E3C6-CCDD1D15D4A7}"/>
              </a:ext>
            </a:extLst>
          </p:cNvPr>
          <p:cNvSpPr>
            <a:spLocks noGrp="1"/>
          </p:cNvSpPr>
          <p:nvPr>
            <p:ph type="title"/>
          </p:nvPr>
        </p:nvSpPr>
        <p:spPr/>
        <p:txBody>
          <a:bodyPr/>
          <a:lstStyle/>
          <a:p>
            <a:r>
              <a:rPr lang="en-US" dirty="0"/>
              <a:t>Experiment results</a:t>
            </a:r>
          </a:p>
        </p:txBody>
      </p:sp>
      <p:graphicFrame>
        <p:nvGraphicFramePr>
          <p:cNvPr id="4" name="Table 3">
            <a:extLst>
              <a:ext uri="{FF2B5EF4-FFF2-40B4-BE49-F238E27FC236}">
                <a16:creationId xmlns:a16="http://schemas.microsoft.com/office/drawing/2014/main" id="{9A0ED9F4-5E4D-863E-93C9-E19586E78AFA}"/>
              </a:ext>
            </a:extLst>
          </p:cNvPr>
          <p:cNvGraphicFramePr>
            <a:graphicFrameLocks noGrp="1"/>
          </p:cNvGraphicFramePr>
          <p:nvPr>
            <p:extLst>
              <p:ext uri="{D42A27DB-BD31-4B8C-83A1-F6EECF244321}">
                <p14:modId xmlns:p14="http://schemas.microsoft.com/office/powerpoint/2010/main" val="1748887059"/>
              </p:ext>
            </p:extLst>
          </p:nvPr>
        </p:nvGraphicFramePr>
        <p:xfrm>
          <a:off x="4900584" y="2833729"/>
          <a:ext cx="6282078" cy="2039645"/>
        </p:xfrm>
        <a:graphic>
          <a:graphicData uri="http://schemas.openxmlformats.org/drawingml/2006/table">
            <a:tbl>
              <a:tblPr firstRow="1" bandRow="1">
                <a:tableStyleId>{5C22544A-7EE6-4342-B048-85BDC9FD1C3A}</a:tableStyleId>
              </a:tblPr>
              <a:tblGrid>
                <a:gridCol w="3808701">
                  <a:extLst>
                    <a:ext uri="{9D8B030D-6E8A-4147-A177-3AD203B41FA5}">
                      <a16:colId xmlns:a16="http://schemas.microsoft.com/office/drawing/2014/main" val="2090632753"/>
                    </a:ext>
                  </a:extLst>
                </a:gridCol>
                <a:gridCol w="2473377">
                  <a:extLst>
                    <a:ext uri="{9D8B030D-6E8A-4147-A177-3AD203B41FA5}">
                      <a16:colId xmlns:a16="http://schemas.microsoft.com/office/drawing/2014/main" val="577272228"/>
                    </a:ext>
                  </a:extLst>
                </a:gridCol>
              </a:tblGrid>
              <a:tr h="356169">
                <a:tc>
                  <a:txBody>
                    <a:bodyPr/>
                    <a:lstStyle/>
                    <a:p>
                      <a:r>
                        <a:rPr lang="en-US" dirty="0"/>
                        <a:t>Loss function</a:t>
                      </a:r>
                    </a:p>
                  </a:txBody>
                  <a:tcPr/>
                </a:tc>
                <a:tc>
                  <a:txBody>
                    <a:bodyPr/>
                    <a:lstStyle/>
                    <a:p>
                      <a:r>
                        <a:rPr lang="en-US" dirty="0"/>
                        <a:t>Accuracy</a:t>
                      </a:r>
                    </a:p>
                  </a:txBody>
                  <a:tcPr/>
                </a:tc>
                <a:extLst>
                  <a:ext uri="{0D108BD9-81ED-4DB2-BD59-A6C34878D82A}">
                    <a16:rowId xmlns:a16="http://schemas.microsoft.com/office/drawing/2014/main" val="4005184195"/>
                  </a:ext>
                </a:extLst>
              </a:tr>
              <a:tr h="576605">
                <a:tc>
                  <a:txBody>
                    <a:bodyPr/>
                    <a:lstStyle/>
                    <a:p>
                      <a:r>
                        <a:rPr lang="en-US" dirty="0"/>
                        <a:t>Cross entropy</a:t>
                      </a:r>
                    </a:p>
                  </a:txBody>
                  <a:tcPr/>
                </a:tc>
                <a:tc>
                  <a:txBody>
                    <a:bodyPr/>
                    <a:lstStyle/>
                    <a:p>
                      <a:r>
                        <a:rPr lang="en-US" dirty="0"/>
                        <a:t>83%</a:t>
                      </a:r>
                    </a:p>
                  </a:txBody>
                  <a:tcPr/>
                </a:tc>
                <a:extLst>
                  <a:ext uri="{0D108BD9-81ED-4DB2-BD59-A6C34878D82A}">
                    <a16:rowId xmlns:a16="http://schemas.microsoft.com/office/drawing/2014/main" val="2803848300"/>
                  </a:ext>
                </a:extLst>
              </a:tr>
              <a:tr h="356169">
                <a:tc>
                  <a:txBody>
                    <a:bodyPr/>
                    <a:lstStyle/>
                    <a:p>
                      <a:r>
                        <a:rPr lang="en-US" dirty="0"/>
                        <a:t>MAE</a:t>
                      </a:r>
                    </a:p>
                  </a:txBody>
                  <a:tcPr/>
                </a:tc>
                <a:tc>
                  <a:txBody>
                    <a:bodyPr/>
                    <a:lstStyle/>
                    <a:p>
                      <a:r>
                        <a:rPr lang="en-US" dirty="0"/>
                        <a:t>89%</a:t>
                      </a:r>
                    </a:p>
                  </a:txBody>
                  <a:tcPr/>
                </a:tc>
                <a:extLst>
                  <a:ext uri="{0D108BD9-81ED-4DB2-BD59-A6C34878D82A}">
                    <a16:rowId xmlns:a16="http://schemas.microsoft.com/office/drawing/2014/main" val="3327065776"/>
                  </a:ext>
                </a:extLst>
              </a:tr>
              <a:tr h="356169">
                <a:tc>
                  <a:txBody>
                    <a:bodyPr/>
                    <a:lstStyle/>
                    <a:p>
                      <a:r>
                        <a:rPr lang="en-US" dirty="0"/>
                        <a:t>Bi-tempered logistic loss</a:t>
                      </a:r>
                    </a:p>
                  </a:txBody>
                  <a:tcPr/>
                </a:tc>
                <a:tc>
                  <a:txBody>
                    <a:bodyPr/>
                    <a:lstStyle/>
                    <a:p>
                      <a:r>
                        <a:rPr lang="en-US" dirty="0"/>
                        <a:t>85%</a:t>
                      </a:r>
                    </a:p>
                  </a:txBody>
                  <a:tcPr/>
                </a:tc>
                <a:extLst>
                  <a:ext uri="{0D108BD9-81ED-4DB2-BD59-A6C34878D82A}">
                    <a16:rowId xmlns:a16="http://schemas.microsoft.com/office/drawing/2014/main" val="2192878829"/>
                  </a:ext>
                </a:extLst>
              </a:tr>
              <a:tr h="356169">
                <a:tc>
                  <a:txBody>
                    <a:bodyPr/>
                    <a:lstStyle/>
                    <a:p>
                      <a:r>
                        <a:rPr lang="en-US" dirty="0"/>
                        <a:t>AGCE</a:t>
                      </a:r>
                    </a:p>
                  </a:txBody>
                  <a:tcPr/>
                </a:tc>
                <a:tc>
                  <a:txBody>
                    <a:bodyPr/>
                    <a:lstStyle/>
                    <a:p>
                      <a:r>
                        <a:rPr lang="en-US" dirty="0"/>
                        <a:t>88%</a:t>
                      </a:r>
                    </a:p>
                  </a:txBody>
                  <a:tcPr/>
                </a:tc>
                <a:extLst>
                  <a:ext uri="{0D108BD9-81ED-4DB2-BD59-A6C34878D82A}">
                    <a16:rowId xmlns:a16="http://schemas.microsoft.com/office/drawing/2014/main" val="1512510286"/>
                  </a:ext>
                </a:extLst>
              </a:tr>
            </a:tbl>
          </a:graphicData>
        </a:graphic>
      </p:graphicFrame>
      <p:sp>
        <p:nvSpPr>
          <p:cNvPr id="5" name="TextBox 4">
            <a:extLst>
              <a:ext uri="{FF2B5EF4-FFF2-40B4-BE49-F238E27FC236}">
                <a16:creationId xmlns:a16="http://schemas.microsoft.com/office/drawing/2014/main" id="{C4250D33-CA18-D4DE-7DF5-30CD00345BEC}"/>
              </a:ext>
            </a:extLst>
          </p:cNvPr>
          <p:cNvSpPr txBox="1"/>
          <p:nvPr/>
        </p:nvSpPr>
        <p:spPr>
          <a:xfrm>
            <a:off x="5351488" y="2248524"/>
            <a:ext cx="2977225" cy="369332"/>
          </a:xfrm>
          <a:prstGeom prst="rect">
            <a:avLst/>
          </a:prstGeom>
          <a:noFill/>
        </p:spPr>
        <p:txBody>
          <a:bodyPr wrap="none" rtlCol="0">
            <a:spAutoFit/>
          </a:bodyPr>
          <a:lstStyle/>
          <a:p>
            <a:r>
              <a:rPr lang="en-US" dirty="0"/>
              <a:t>@40% Symmetric noise rate</a:t>
            </a:r>
          </a:p>
        </p:txBody>
      </p:sp>
      <p:pic>
        <p:nvPicPr>
          <p:cNvPr id="6" name="Picture 5">
            <a:extLst>
              <a:ext uri="{FF2B5EF4-FFF2-40B4-BE49-F238E27FC236}">
                <a16:creationId xmlns:a16="http://schemas.microsoft.com/office/drawing/2014/main" id="{C5E214A2-2462-1E00-6BAA-CA2D13322B9F}"/>
              </a:ext>
            </a:extLst>
          </p:cNvPr>
          <p:cNvPicPr>
            <a:picLocks noChangeAspect="1"/>
          </p:cNvPicPr>
          <p:nvPr/>
        </p:nvPicPr>
        <p:blipFill>
          <a:blip r:embed="rId2"/>
          <a:stretch>
            <a:fillRect/>
          </a:stretch>
        </p:blipFill>
        <p:spPr>
          <a:xfrm>
            <a:off x="1368206" y="1690688"/>
            <a:ext cx="1703442" cy="4310752"/>
          </a:xfrm>
          <a:prstGeom prst="rect">
            <a:avLst/>
          </a:prstGeom>
        </p:spPr>
      </p:pic>
      <p:sp>
        <p:nvSpPr>
          <p:cNvPr id="7" name="TextBox 6">
            <a:extLst>
              <a:ext uri="{FF2B5EF4-FFF2-40B4-BE49-F238E27FC236}">
                <a16:creationId xmlns:a16="http://schemas.microsoft.com/office/drawing/2014/main" id="{F96AFB6E-CB57-5A9A-01C1-841D0373CB83}"/>
              </a:ext>
            </a:extLst>
          </p:cNvPr>
          <p:cNvSpPr txBox="1"/>
          <p:nvPr/>
        </p:nvSpPr>
        <p:spPr>
          <a:xfrm>
            <a:off x="838200" y="6308209"/>
            <a:ext cx="2940549" cy="369332"/>
          </a:xfrm>
          <a:prstGeom prst="rect">
            <a:avLst/>
          </a:prstGeom>
          <a:noFill/>
        </p:spPr>
        <p:txBody>
          <a:bodyPr wrap="none" rtlCol="0">
            <a:spAutoFit/>
          </a:bodyPr>
          <a:lstStyle/>
          <a:p>
            <a:r>
              <a:rPr lang="en-US" dirty="0"/>
              <a:t>MNIST network architecture</a:t>
            </a:r>
          </a:p>
        </p:txBody>
      </p:sp>
      <p:graphicFrame>
        <p:nvGraphicFramePr>
          <p:cNvPr id="8" name="Table 7">
            <a:extLst>
              <a:ext uri="{FF2B5EF4-FFF2-40B4-BE49-F238E27FC236}">
                <a16:creationId xmlns:a16="http://schemas.microsoft.com/office/drawing/2014/main" id="{8A00DD83-0BB9-77F9-44AC-CDBEB035A636}"/>
              </a:ext>
            </a:extLst>
          </p:cNvPr>
          <p:cNvGraphicFramePr>
            <a:graphicFrameLocks noGrp="1"/>
          </p:cNvGraphicFramePr>
          <p:nvPr>
            <p:extLst>
              <p:ext uri="{D42A27DB-BD31-4B8C-83A1-F6EECF244321}">
                <p14:modId xmlns:p14="http://schemas.microsoft.com/office/powerpoint/2010/main" val="292448241"/>
              </p:ext>
            </p:extLst>
          </p:nvPr>
        </p:nvGraphicFramePr>
        <p:xfrm>
          <a:off x="4900584" y="5288353"/>
          <a:ext cx="6282078" cy="365760"/>
        </p:xfrm>
        <a:graphic>
          <a:graphicData uri="http://schemas.openxmlformats.org/drawingml/2006/table">
            <a:tbl>
              <a:tblPr firstRow="1" bandRow="1">
                <a:tableStyleId>{5C22544A-7EE6-4342-B048-85BDC9FD1C3A}</a:tableStyleId>
              </a:tblPr>
              <a:tblGrid>
                <a:gridCol w="3808701">
                  <a:extLst>
                    <a:ext uri="{9D8B030D-6E8A-4147-A177-3AD203B41FA5}">
                      <a16:colId xmlns:a16="http://schemas.microsoft.com/office/drawing/2014/main" val="734068323"/>
                    </a:ext>
                  </a:extLst>
                </a:gridCol>
                <a:gridCol w="2473377">
                  <a:extLst>
                    <a:ext uri="{9D8B030D-6E8A-4147-A177-3AD203B41FA5}">
                      <a16:colId xmlns:a16="http://schemas.microsoft.com/office/drawing/2014/main" val="2533320755"/>
                    </a:ext>
                  </a:extLst>
                </a:gridCol>
              </a:tblGrid>
              <a:tr h="356169">
                <a:tc>
                  <a:txBody>
                    <a:bodyPr/>
                    <a:lstStyle/>
                    <a:p>
                      <a:r>
                        <a:rPr lang="en-US" dirty="0"/>
                        <a:t>Weighted ensemble</a:t>
                      </a:r>
                    </a:p>
                  </a:txBody>
                  <a:tcPr/>
                </a:tc>
                <a:tc>
                  <a:txBody>
                    <a:bodyPr/>
                    <a:lstStyle/>
                    <a:p>
                      <a:r>
                        <a:rPr lang="en-US" dirty="0"/>
                        <a:t>90%</a:t>
                      </a:r>
                    </a:p>
                  </a:txBody>
                  <a:tcPr/>
                </a:tc>
                <a:extLst>
                  <a:ext uri="{0D108BD9-81ED-4DB2-BD59-A6C34878D82A}">
                    <a16:rowId xmlns:a16="http://schemas.microsoft.com/office/drawing/2014/main" val="2733984452"/>
                  </a:ext>
                </a:extLst>
              </a:tr>
            </a:tbl>
          </a:graphicData>
        </a:graphic>
      </p:graphicFrame>
    </p:spTree>
    <p:extLst>
      <p:ext uri="{BB962C8B-B14F-4D97-AF65-F5344CB8AC3E}">
        <p14:creationId xmlns:p14="http://schemas.microsoft.com/office/powerpoint/2010/main" val="3706533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03D20-5567-D650-1060-C4BAF817753A}"/>
              </a:ext>
            </a:extLst>
          </p:cNvPr>
          <p:cNvSpPr>
            <a:spLocks noGrp="1"/>
          </p:cNvSpPr>
          <p:nvPr>
            <p:ph type="title"/>
          </p:nvPr>
        </p:nvSpPr>
        <p:spPr/>
        <p:txBody>
          <a:bodyPr/>
          <a:lstStyle/>
          <a:p>
            <a:r>
              <a:rPr lang="en-US" dirty="0"/>
              <a:t>Future work</a:t>
            </a:r>
          </a:p>
        </p:txBody>
      </p:sp>
      <p:sp>
        <p:nvSpPr>
          <p:cNvPr id="3" name="Content Placeholder 2">
            <a:extLst>
              <a:ext uri="{FF2B5EF4-FFF2-40B4-BE49-F238E27FC236}">
                <a16:creationId xmlns:a16="http://schemas.microsoft.com/office/drawing/2014/main" id="{5646E365-719C-7A0C-71F3-99B8078AC54C}"/>
              </a:ext>
            </a:extLst>
          </p:cNvPr>
          <p:cNvSpPr>
            <a:spLocks noGrp="1"/>
          </p:cNvSpPr>
          <p:nvPr>
            <p:ph idx="1"/>
          </p:nvPr>
        </p:nvSpPr>
        <p:spPr/>
        <p:txBody>
          <a:bodyPr/>
          <a:lstStyle/>
          <a:p>
            <a:r>
              <a:rPr lang="en-US" dirty="0"/>
              <a:t>Address asymmetric noise scenario.</a:t>
            </a:r>
          </a:p>
          <a:p>
            <a:r>
              <a:rPr lang="en-US" dirty="0"/>
              <a:t>Ideas explored:</a:t>
            </a:r>
          </a:p>
          <a:p>
            <a:pPr lvl="1"/>
            <a:r>
              <a:rPr lang="en-US" dirty="0"/>
              <a:t>Use a noise translation matrix as a prior-information to model</a:t>
            </a:r>
          </a:p>
          <a:p>
            <a:pPr lvl="1"/>
            <a:r>
              <a:rPr lang="en-US" dirty="0"/>
              <a:t>Sampling approaches</a:t>
            </a:r>
          </a:p>
          <a:p>
            <a:pPr lvl="1"/>
            <a:endParaRPr lang="en-US" dirty="0"/>
          </a:p>
          <a:p>
            <a:pPr marL="457200" lvl="1" indent="0">
              <a:buNone/>
            </a:pPr>
            <a:endParaRPr lang="en-US" dirty="0"/>
          </a:p>
        </p:txBody>
      </p:sp>
    </p:spTree>
    <p:extLst>
      <p:ext uri="{BB962C8B-B14F-4D97-AF65-F5344CB8AC3E}">
        <p14:creationId xmlns:p14="http://schemas.microsoft.com/office/powerpoint/2010/main" val="2506851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1C0F4-DBBE-D70D-972D-4922CE16CCB4}"/>
              </a:ext>
            </a:extLst>
          </p:cNvPr>
          <p:cNvSpPr>
            <a:spLocks noGrp="1"/>
          </p:cNvSpPr>
          <p:nvPr>
            <p:ph type="title"/>
          </p:nvPr>
        </p:nvSpPr>
        <p:spPr>
          <a:xfrm>
            <a:off x="1130808" y="4498213"/>
            <a:ext cx="10515600" cy="1325563"/>
          </a:xfrm>
        </p:spPr>
        <p:txBody>
          <a:bodyPr/>
          <a:lstStyle/>
          <a:p>
            <a:r>
              <a:rPr lang="en-US" dirty="0"/>
              <a:t>Appendix</a:t>
            </a:r>
          </a:p>
        </p:txBody>
      </p:sp>
    </p:spTree>
    <p:extLst>
      <p:ext uri="{BB962C8B-B14F-4D97-AF65-F5344CB8AC3E}">
        <p14:creationId xmlns:p14="http://schemas.microsoft.com/office/powerpoint/2010/main" val="26903823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305DD-5A2B-5664-1AE0-20B24EFE7FAC}"/>
              </a:ext>
            </a:extLst>
          </p:cNvPr>
          <p:cNvSpPr>
            <a:spLocks noGrp="1"/>
          </p:cNvSpPr>
          <p:nvPr>
            <p:ph type="title"/>
          </p:nvPr>
        </p:nvSpPr>
        <p:spPr/>
        <p:txBody>
          <a:bodyPr/>
          <a:lstStyle/>
          <a:p>
            <a:r>
              <a:rPr lang="en-US" dirty="0"/>
              <a:t>Experiment results: Data set with Symmetric loss</a:t>
            </a:r>
          </a:p>
        </p:txBody>
      </p:sp>
      <p:graphicFrame>
        <p:nvGraphicFramePr>
          <p:cNvPr id="5" name="Table 4">
            <a:extLst>
              <a:ext uri="{FF2B5EF4-FFF2-40B4-BE49-F238E27FC236}">
                <a16:creationId xmlns:a16="http://schemas.microsoft.com/office/drawing/2014/main" id="{35472C0B-E6D8-D3BA-F313-F05C7CD6824F}"/>
              </a:ext>
            </a:extLst>
          </p:cNvPr>
          <p:cNvGraphicFramePr>
            <a:graphicFrameLocks noGrp="1"/>
          </p:cNvGraphicFramePr>
          <p:nvPr>
            <p:extLst>
              <p:ext uri="{D42A27DB-BD31-4B8C-83A1-F6EECF244321}">
                <p14:modId xmlns:p14="http://schemas.microsoft.com/office/powerpoint/2010/main" val="2521199386"/>
              </p:ext>
            </p:extLst>
          </p:nvPr>
        </p:nvGraphicFramePr>
        <p:xfrm>
          <a:off x="532384" y="2866136"/>
          <a:ext cx="2357120" cy="2103120"/>
        </p:xfrm>
        <a:graphic>
          <a:graphicData uri="http://schemas.openxmlformats.org/drawingml/2006/table">
            <a:tbl>
              <a:tblPr firstRow="1" bandRow="1">
                <a:tableStyleId>{5C22544A-7EE6-4342-B048-85BDC9FD1C3A}</a:tableStyleId>
              </a:tblPr>
              <a:tblGrid>
                <a:gridCol w="919305">
                  <a:extLst>
                    <a:ext uri="{9D8B030D-6E8A-4147-A177-3AD203B41FA5}">
                      <a16:colId xmlns:a16="http://schemas.microsoft.com/office/drawing/2014/main" val="2090632753"/>
                    </a:ext>
                  </a:extLst>
                </a:gridCol>
                <a:gridCol w="1437815">
                  <a:extLst>
                    <a:ext uri="{9D8B030D-6E8A-4147-A177-3AD203B41FA5}">
                      <a16:colId xmlns:a16="http://schemas.microsoft.com/office/drawing/2014/main" val="577272228"/>
                    </a:ext>
                  </a:extLst>
                </a:gridCol>
              </a:tblGrid>
              <a:tr h="331391">
                <a:tc>
                  <a:txBody>
                    <a:bodyPr/>
                    <a:lstStyle/>
                    <a:p>
                      <a:r>
                        <a:rPr lang="en-US" dirty="0"/>
                        <a:t>Noise %</a:t>
                      </a:r>
                    </a:p>
                  </a:txBody>
                  <a:tcPr/>
                </a:tc>
                <a:tc>
                  <a:txBody>
                    <a:bodyPr/>
                    <a:lstStyle/>
                    <a:p>
                      <a:r>
                        <a:rPr lang="en-US" dirty="0"/>
                        <a:t>Accuracy</a:t>
                      </a:r>
                    </a:p>
                  </a:txBody>
                  <a:tcPr/>
                </a:tc>
                <a:extLst>
                  <a:ext uri="{0D108BD9-81ED-4DB2-BD59-A6C34878D82A}">
                    <a16:rowId xmlns:a16="http://schemas.microsoft.com/office/drawing/2014/main" val="4005184195"/>
                  </a:ext>
                </a:extLst>
              </a:tr>
              <a:tr h="331391">
                <a:tc>
                  <a:txBody>
                    <a:bodyPr/>
                    <a:lstStyle/>
                    <a:p>
                      <a:r>
                        <a:rPr lang="en-US" dirty="0"/>
                        <a:t>0%</a:t>
                      </a:r>
                    </a:p>
                  </a:txBody>
                  <a:tcPr/>
                </a:tc>
                <a:tc>
                  <a:txBody>
                    <a:bodyPr/>
                    <a:lstStyle/>
                    <a:p>
                      <a:r>
                        <a:rPr lang="en-US" dirty="0"/>
                        <a:t>98%</a:t>
                      </a:r>
                    </a:p>
                  </a:txBody>
                  <a:tcPr/>
                </a:tc>
                <a:extLst>
                  <a:ext uri="{0D108BD9-81ED-4DB2-BD59-A6C34878D82A}">
                    <a16:rowId xmlns:a16="http://schemas.microsoft.com/office/drawing/2014/main" val="2803848300"/>
                  </a:ext>
                </a:extLst>
              </a:tr>
              <a:tr h="331391">
                <a:tc>
                  <a:txBody>
                    <a:bodyPr/>
                    <a:lstStyle/>
                    <a:p>
                      <a:r>
                        <a:rPr lang="en-US" dirty="0"/>
                        <a:t>40%</a:t>
                      </a:r>
                    </a:p>
                  </a:txBody>
                  <a:tcPr/>
                </a:tc>
                <a:tc>
                  <a:txBody>
                    <a:bodyPr/>
                    <a:lstStyle/>
                    <a:p>
                      <a:r>
                        <a:rPr lang="en-US" dirty="0"/>
                        <a:t>83%</a:t>
                      </a:r>
                    </a:p>
                  </a:txBody>
                  <a:tcPr/>
                </a:tc>
                <a:extLst>
                  <a:ext uri="{0D108BD9-81ED-4DB2-BD59-A6C34878D82A}">
                    <a16:rowId xmlns:a16="http://schemas.microsoft.com/office/drawing/2014/main" val="3327065776"/>
                  </a:ext>
                </a:extLst>
              </a:tr>
              <a:tr h="331391">
                <a:tc>
                  <a:txBody>
                    <a:bodyPr/>
                    <a:lstStyle/>
                    <a:p>
                      <a:r>
                        <a:rPr lang="en-US" dirty="0"/>
                        <a:t>50%</a:t>
                      </a:r>
                    </a:p>
                  </a:txBody>
                  <a:tcPr/>
                </a:tc>
                <a:tc>
                  <a:txBody>
                    <a:bodyPr/>
                    <a:lstStyle/>
                    <a:p>
                      <a:r>
                        <a:rPr lang="en-US" dirty="0"/>
                        <a:t>51%</a:t>
                      </a:r>
                    </a:p>
                  </a:txBody>
                  <a:tcPr/>
                </a:tc>
                <a:extLst>
                  <a:ext uri="{0D108BD9-81ED-4DB2-BD59-A6C34878D82A}">
                    <a16:rowId xmlns:a16="http://schemas.microsoft.com/office/drawing/2014/main" val="2192878829"/>
                  </a:ext>
                </a:extLst>
              </a:tr>
              <a:tr h="331391">
                <a:tc>
                  <a:txBody>
                    <a:bodyPr/>
                    <a:lstStyle/>
                    <a:p>
                      <a:r>
                        <a:rPr lang="en-US" dirty="0"/>
                        <a:t>60%</a:t>
                      </a:r>
                    </a:p>
                  </a:txBody>
                  <a:tcPr/>
                </a:tc>
                <a:tc>
                  <a:txBody>
                    <a:bodyPr/>
                    <a:lstStyle/>
                    <a:p>
                      <a:r>
                        <a:rPr lang="en-US" dirty="0"/>
                        <a:t>16%</a:t>
                      </a:r>
                    </a:p>
                  </a:txBody>
                  <a:tcPr/>
                </a:tc>
                <a:extLst>
                  <a:ext uri="{0D108BD9-81ED-4DB2-BD59-A6C34878D82A}">
                    <a16:rowId xmlns:a16="http://schemas.microsoft.com/office/drawing/2014/main" val="1786835194"/>
                  </a:ext>
                </a:extLst>
              </a:tr>
            </a:tbl>
          </a:graphicData>
        </a:graphic>
      </p:graphicFrame>
      <p:sp>
        <p:nvSpPr>
          <p:cNvPr id="6" name="TextBox 5">
            <a:extLst>
              <a:ext uri="{FF2B5EF4-FFF2-40B4-BE49-F238E27FC236}">
                <a16:creationId xmlns:a16="http://schemas.microsoft.com/office/drawing/2014/main" id="{CB8B03F2-250B-2D4B-9161-6418D08A9FB5}"/>
              </a:ext>
            </a:extLst>
          </p:cNvPr>
          <p:cNvSpPr txBox="1"/>
          <p:nvPr/>
        </p:nvSpPr>
        <p:spPr>
          <a:xfrm>
            <a:off x="588618" y="2340864"/>
            <a:ext cx="2814425" cy="369332"/>
          </a:xfrm>
          <a:prstGeom prst="rect">
            <a:avLst/>
          </a:prstGeom>
          <a:noFill/>
        </p:spPr>
        <p:txBody>
          <a:bodyPr wrap="none" rtlCol="0">
            <a:spAutoFit/>
          </a:bodyPr>
          <a:lstStyle/>
          <a:p>
            <a:r>
              <a:rPr lang="en-US" dirty="0"/>
              <a:t>Cross entropy Loss results</a:t>
            </a:r>
          </a:p>
        </p:txBody>
      </p:sp>
      <p:graphicFrame>
        <p:nvGraphicFramePr>
          <p:cNvPr id="7" name="Table 6">
            <a:extLst>
              <a:ext uri="{FF2B5EF4-FFF2-40B4-BE49-F238E27FC236}">
                <a16:creationId xmlns:a16="http://schemas.microsoft.com/office/drawing/2014/main" id="{1A2478B4-4FB5-D6B6-6B6E-6C62C176C7EF}"/>
              </a:ext>
            </a:extLst>
          </p:cNvPr>
          <p:cNvGraphicFramePr>
            <a:graphicFrameLocks noGrp="1"/>
          </p:cNvGraphicFramePr>
          <p:nvPr>
            <p:extLst>
              <p:ext uri="{D42A27DB-BD31-4B8C-83A1-F6EECF244321}">
                <p14:modId xmlns:p14="http://schemas.microsoft.com/office/powerpoint/2010/main" val="1885320569"/>
              </p:ext>
            </p:extLst>
          </p:nvPr>
        </p:nvGraphicFramePr>
        <p:xfrm>
          <a:off x="3818128" y="2866136"/>
          <a:ext cx="2357120" cy="2103120"/>
        </p:xfrm>
        <a:graphic>
          <a:graphicData uri="http://schemas.openxmlformats.org/drawingml/2006/table">
            <a:tbl>
              <a:tblPr firstRow="1" bandRow="1">
                <a:tableStyleId>{5C22544A-7EE6-4342-B048-85BDC9FD1C3A}</a:tableStyleId>
              </a:tblPr>
              <a:tblGrid>
                <a:gridCol w="919305">
                  <a:extLst>
                    <a:ext uri="{9D8B030D-6E8A-4147-A177-3AD203B41FA5}">
                      <a16:colId xmlns:a16="http://schemas.microsoft.com/office/drawing/2014/main" val="2090632753"/>
                    </a:ext>
                  </a:extLst>
                </a:gridCol>
                <a:gridCol w="1437815">
                  <a:extLst>
                    <a:ext uri="{9D8B030D-6E8A-4147-A177-3AD203B41FA5}">
                      <a16:colId xmlns:a16="http://schemas.microsoft.com/office/drawing/2014/main" val="577272228"/>
                    </a:ext>
                  </a:extLst>
                </a:gridCol>
              </a:tblGrid>
              <a:tr h="331391">
                <a:tc>
                  <a:txBody>
                    <a:bodyPr/>
                    <a:lstStyle/>
                    <a:p>
                      <a:r>
                        <a:rPr lang="en-US" dirty="0"/>
                        <a:t>Noise %</a:t>
                      </a:r>
                    </a:p>
                  </a:txBody>
                  <a:tcPr/>
                </a:tc>
                <a:tc>
                  <a:txBody>
                    <a:bodyPr/>
                    <a:lstStyle/>
                    <a:p>
                      <a:r>
                        <a:rPr lang="en-US" dirty="0"/>
                        <a:t>Accuracy</a:t>
                      </a:r>
                    </a:p>
                  </a:txBody>
                  <a:tcPr/>
                </a:tc>
                <a:extLst>
                  <a:ext uri="{0D108BD9-81ED-4DB2-BD59-A6C34878D82A}">
                    <a16:rowId xmlns:a16="http://schemas.microsoft.com/office/drawing/2014/main" val="4005184195"/>
                  </a:ext>
                </a:extLst>
              </a:tr>
              <a:tr h="331391">
                <a:tc>
                  <a:txBody>
                    <a:bodyPr/>
                    <a:lstStyle/>
                    <a:p>
                      <a:r>
                        <a:rPr lang="en-US" dirty="0"/>
                        <a:t>0%</a:t>
                      </a:r>
                    </a:p>
                  </a:txBody>
                  <a:tcPr/>
                </a:tc>
                <a:tc>
                  <a:txBody>
                    <a:bodyPr/>
                    <a:lstStyle/>
                    <a:p>
                      <a:r>
                        <a:rPr lang="en-US" dirty="0"/>
                        <a:t>90%</a:t>
                      </a:r>
                    </a:p>
                  </a:txBody>
                  <a:tcPr/>
                </a:tc>
                <a:extLst>
                  <a:ext uri="{0D108BD9-81ED-4DB2-BD59-A6C34878D82A}">
                    <a16:rowId xmlns:a16="http://schemas.microsoft.com/office/drawing/2014/main" val="2803848300"/>
                  </a:ext>
                </a:extLst>
              </a:tr>
              <a:tr h="331391">
                <a:tc>
                  <a:txBody>
                    <a:bodyPr/>
                    <a:lstStyle/>
                    <a:p>
                      <a:r>
                        <a:rPr lang="en-US" dirty="0"/>
                        <a:t>40%</a:t>
                      </a:r>
                    </a:p>
                  </a:txBody>
                  <a:tcPr/>
                </a:tc>
                <a:tc>
                  <a:txBody>
                    <a:bodyPr/>
                    <a:lstStyle/>
                    <a:p>
                      <a:r>
                        <a:rPr lang="en-US" dirty="0"/>
                        <a:t>89%</a:t>
                      </a:r>
                    </a:p>
                  </a:txBody>
                  <a:tcPr/>
                </a:tc>
                <a:extLst>
                  <a:ext uri="{0D108BD9-81ED-4DB2-BD59-A6C34878D82A}">
                    <a16:rowId xmlns:a16="http://schemas.microsoft.com/office/drawing/2014/main" val="3327065776"/>
                  </a:ext>
                </a:extLst>
              </a:tr>
              <a:tr h="331391">
                <a:tc>
                  <a:txBody>
                    <a:bodyPr/>
                    <a:lstStyle/>
                    <a:p>
                      <a:r>
                        <a:rPr lang="en-US" dirty="0"/>
                        <a:t>50%</a:t>
                      </a:r>
                    </a:p>
                  </a:txBody>
                  <a:tcPr/>
                </a:tc>
                <a:tc>
                  <a:txBody>
                    <a:bodyPr/>
                    <a:lstStyle/>
                    <a:p>
                      <a:r>
                        <a:rPr lang="en-US" dirty="0"/>
                        <a:t>54%</a:t>
                      </a:r>
                    </a:p>
                  </a:txBody>
                  <a:tcPr/>
                </a:tc>
                <a:extLst>
                  <a:ext uri="{0D108BD9-81ED-4DB2-BD59-A6C34878D82A}">
                    <a16:rowId xmlns:a16="http://schemas.microsoft.com/office/drawing/2014/main" val="2192878829"/>
                  </a:ext>
                </a:extLst>
              </a:tr>
              <a:tr h="331391">
                <a:tc>
                  <a:txBody>
                    <a:bodyPr/>
                    <a:lstStyle/>
                    <a:p>
                      <a:r>
                        <a:rPr lang="en-US" dirty="0"/>
                        <a:t>60%</a:t>
                      </a:r>
                    </a:p>
                  </a:txBody>
                  <a:tcPr/>
                </a:tc>
                <a:tc>
                  <a:txBody>
                    <a:bodyPr/>
                    <a:lstStyle/>
                    <a:p>
                      <a:r>
                        <a:rPr lang="en-US" dirty="0"/>
                        <a:t>27%</a:t>
                      </a:r>
                    </a:p>
                  </a:txBody>
                  <a:tcPr/>
                </a:tc>
                <a:extLst>
                  <a:ext uri="{0D108BD9-81ED-4DB2-BD59-A6C34878D82A}">
                    <a16:rowId xmlns:a16="http://schemas.microsoft.com/office/drawing/2014/main" val="840443781"/>
                  </a:ext>
                </a:extLst>
              </a:tr>
            </a:tbl>
          </a:graphicData>
        </a:graphic>
      </p:graphicFrame>
      <p:sp>
        <p:nvSpPr>
          <p:cNvPr id="8" name="TextBox 7">
            <a:extLst>
              <a:ext uri="{FF2B5EF4-FFF2-40B4-BE49-F238E27FC236}">
                <a16:creationId xmlns:a16="http://schemas.microsoft.com/office/drawing/2014/main" id="{C81FEF13-6B1C-DC90-78E1-76BC5AC14AEC}"/>
              </a:ext>
            </a:extLst>
          </p:cNvPr>
          <p:cNvSpPr txBox="1"/>
          <p:nvPr/>
        </p:nvSpPr>
        <p:spPr>
          <a:xfrm>
            <a:off x="3874362" y="2340864"/>
            <a:ext cx="1873975" cy="369332"/>
          </a:xfrm>
          <a:prstGeom prst="rect">
            <a:avLst/>
          </a:prstGeom>
          <a:noFill/>
        </p:spPr>
        <p:txBody>
          <a:bodyPr wrap="none" rtlCol="0">
            <a:spAutoFit/>
          </a:bodyPr>
          <a:lstStyle/>
          <a:p>
            <a:r>
              <a:rPr lang="en-US" dirty="0"/>
              <a:t>MAE Loss results</a:t>
            </a:r>
          </a:p>
        </p:txBody>
      </p:sp>
      <p:graphicFrame>
        <p:nvGraphicFramePr>
          <p:cNvPr id="9" name="Table 8">
            <a:extLst>
              <a:ext uri="{FF2B5EF4-FFF2-40B4-BE49-F238E27FC236}">
                <a16:creationId xmlns:a16="http://schemas.microsoft.com/office/drawing/2014/main" id="{B048C337-F7AC-A672-B392-5BCD6FBBDCD4}"/>
              </a:ext>
            </a:extLst>
          </p:cNvPr>
          <p:cNvGraphicFramePr>
            <a:graphicFrameLocks noGrp="1"/>
          </p:cNvGraphicFramePr>
          <p:nvPr>
            <p:extLst>
              <p:ext uri="{D42A27DB-BD31-4B8C-83A1-F6EECF244321}">
                <p14:modId xmlns:p14="http://schemas.microsoft.com/office/powerpoint/2010/main" val="795336046"/>
              </p:ext>
            </p:extLst>
          </p:nvPr>
        </p:nvGraphicFramePr>
        <p:xfrm>
          <a:off x="6563362" y="2866136"/>
          <a:ext cx="2357120" cy="2103120"/>
        </p:xfrm>
        <a:graphic>
          <a:graphicData uri="http://schemas.openxmlformats.org/drawingml/2006/table">
            <a:tbl>
              <a:tblPr firstRow="1" bandRow="1">
                <a:tableStyleId>{5C22544A-7EE6-4342-B048-85BDC9FD1C3A}</a:tableStyleId>
              </a:tblPr>
              <a:tblGrid>
                <a:gridCol w="919305">
                  <a:extLst>
                    <a:ext uri="{9D8B030D-6E8A-4147-A177-3AD203B41FA5}">
                      <a16:colId xmlns:a16="http://schemas.microsoft.com/office/drawing/2014/main" val="2090632753"/>
                    </a:ext>
                  </a:extLst>
                </a:gridCol>
                <a:gridCol w="1437815">
                  <a:extLst>
                    <a:ext uri="{9D8B030D-6E8A-4147-A177-3AD203B41FA5}">
                      <a16:colId xmlns:a16="http://schemas.microsoft.com/office/drawing/2014/main" val="577272228"/>
                    </a:ext>
                  </a:extLst>
                </a:gridCol>
              </a:tblGrid>
              <a:tr h="331391">
                <a:tc>
                  <a:txBody>
                    <a:bodyPr/>
                    <a:lstStyle/>
                    <a:p>
                      <a:r>
                        <a:rPr lang="en-US" dirty="0"/>
                        <a:t>Noise %</a:t>
                      </a:r>
                    </a:p>
                  </a:txBody>
                  <a:tcPr/>
                </a:tc>
                <a:tc>
                  <a:txBody>
                    <a:bodyPr/>
                    <a:lstStyle/>
                    <a:p>
                      <a:r>
                        <a:rPr lang="en-US" dirty="0"/>
                        <a:t>Accuracy</a:t>
                      </a:r>
                    </a:p>
                  </a:txBody>
                  <a:tcPr/>
                </a:tc>
                <a:extLst>
                  <a:ext uri="{0D108BD9-81ED-4DB2-BD59-A6C34878D82A}">
                    <a16:rowId xmlns:a16="http://schemas.microsoft.com/office/drawing/2014/main" val="4005184195"/>
                  </a:ext>
                </a:extLst>
              </a:tr>
              <a:tr h="331391">
                <a:tc>
                  <a:txBody>
                    <a:bodyPr/>
                    <a:lstStyle/>
                    <a:p>
                      <a:r>
                        <a:rPr lang="en-US" dirty="0"/>
                        <a:t>0%</a:t>
                      </a:r>
                    </a:p>
                  </a:txBody>
                  <a:tcPr/>
                </a:tc>
                <a:tc>
                  <a:txBody>
                    <a:bodyPr/>
                    <a:lstStyle/>
                    <a:p>
                      <a:r>
                        <a:rPr lang="en-US" dirty="0"/>
                        <a:t>98%</a:t>
                      </a:r>
                    </a:p>
                  </a:txBody>
                  <a:tcPr/>
                </a:tc>
                <a:extLst>
                  <a:ext uri="{0D108BD9-81ED-4DB2-BD59-A6C34878D82A}">
                    <a16:rowId xmlns:a16="http://schemas.microsoft.com/office/drawing/2014/main" val="2803848300"/>
                  </a:ext>
                </a:extLst>
              </a:tr>
              <a:tr h="331391">
                <a:tc>
                  <a:txBody>
                    <a:bodyPr/>
                    <a:lstStyle/>
                    <a:p>
                      <a:r>
                        <a:rPr lang="en-US" dirty="0"/>
                        <a:t>40%</a:t>
                      </a:r>
                    </a:p>
                  </a:txBody>
                  <a:tcPr/>
                </a:tc>
                <a:tc>
                  <a:txBody>
                    <a:bodyPr/>
                    <a:lstStyle/>
                    <a:p>
                      <a:r>
                        <a:rPr lang="en-US" dirty="0"/>
                        <a:t>88%</a:t>
                      </a:r>
                    </a:p>
                  </a:txBody>
                  <a:tcPr/>
                </a:tc>
                <a:extLst>
                  <a:ext uri="{0D108BD9-81ED-4DB2-BD59-A6C34878D82A}">
                    <a16:rowId xmlns:a16="http://schemas.microsoft.com/office/drawing/2014/main" val="3327065776"/>
                  </a:ext>
                </a:extLst>
              </a:tr>
              <a:tr h="331391">
                <a:tc>
                  <a:txBody>
                    <a:bodyPr/>
                    <a:lstStyle/>
                    <a:p>
                      <a:r>
                        <a:rPr lang="en-US" dirty="0"/>
                        <a:t>50%</a:t>
                      </a:r>
                    </a:p>
                  </a:txBody>
                  <a:tcPr/>
                </a:tc>
                <a:tc>
                  <a:txBody>
                    <a:bodyPr/>
                    <a:lstStyle/>
                    <a:p>
                      <a:r>
                        <a:rPr lang="en-US" dirty="0"/>
                        <a:t>58%</a:t>
                      </a:r>
                    </a:p>
                  </a:txBody>
                  <a:tcPr/>
                </a:tc>
                <a:extLst>
                  <a:ext uri="{0D108BD9-81ED-4DB2-BD59-A6C34878D82A}">
                    <a16:rowId xmlns:a16="http://schemas.microsoft.com/office/drawing/2014/main" val="2192878829"/>
                  </a:ext>
                </a:extLst>
              </a:tr>
              <a:tr h="331391">
                <a:tc>
                  <a:txBody>
                    <a:bodyPr/>
                    <a:lstStyle/>
                    <a:p>
                      <a:r>
                        <a:rPr lang="en-US" dirty="0"/>
                        <a:t>60%</a:t>
                      </a:r>
                    </a:p>
                  </a:txBody>
                  <a:tcPr/>
                </a:tc>
                <a:tc>
                  <a:txBody>
                    <a:bodyPr/>
                    <a:lstStyle/>
                    <a:p>
                      <a:r>
                        <a:rPr lang="en-US" dirty="0"/>
                        <a:t>9%</a:t>
                      </a:r>
                    </a:p>
                  </a:txBody>
                  <a:tcPr/>
                </a:tc>
                <a:extLst>
                  <a:ext uri="{0D108BD9-81ED-4DB2-BD59-A6C34878D82A}">
                    <a16:rowId xmlns:a16="http://schemas.microsoft.com/office/drawing/2014/main" val="2209785296"/>
                  </a:ext>
                </a:extLst>
              </a:tr>
            </a:tbl>
          </a:graphicData>
        </a:graphic>
      </p:graphicFrame>
      <p:sp>
        <p:nvSpPr>
          <p:cNvPr id="10" name="TextBox 9">
            <a:extLst>
              <a:ext uri="{FF2B5EF4-FFF2-40B4-BE49-F238E27FC236}">
                <a16:creationId xmlns:a16="http://schemas.microsoft.com/office/drawing/2014/main" id="{F5EC5FF7-7054-F900-4300-EF2082EFEAB1}"/>
              </a:ext>
            </a:extLst>
          </p:cNvPr>
          <p:cNvSpPr txBox="1"/>
          <p:nvPr/>
        </p:nvSpPr>
        <p:spPr>
          <a:xfrm>
            <a:off x="6715098" y="2340864"/>
            <a:ext cx="2010422" cy="369332"/>
          </a:xfrm>
          <a:prstGeom prst="rect">
            <a:avLst/>
          </a:prstGeom>
          <a:noFill/>
        </p:spPr>
        <p:txBody>
          <a:bodyPr wrap="none" rtlCol="0">
            <a:spAutoFit/>
          </a:bodyPr>
          <a:lstStyle/>
          <a:p>
            <a:r>
              <a:rPr lang="en-US" dirty="0"/>
              <a:t>AGCE Loss results</a:t>
            </a:r>
          </a:p>
        </p:txBody>
      </p:sp>
      <p:graphicFrame>
        <p:nvGraphicFramePr>
          <p:cNvPr id="11" name="Table 10">
            <a:extLst>
              <a:ext uri="{FF2B5EF4-FFF2-40B4-BE49-F238E27FC236}">
                <a16:creationId xmlns:a16="http://schemas.microsoft.com/office/drawing/2014/main" id="{90F778F2-CCEC-5AE9-49E0-ED3758CD3153}"/>
              </a:ext>
            </a:extLst>
          </p:cNvPr>
          <p:cNvGraphicFramePr>
            <a:graphicFrameLocks noGrp="1"/>
          </p:cNvGraphicFramePr>
          <p:nvPr>
            <p:extLst>
              <p:ext uri="{D42A27DB-BD31-4B8C-83A1-F6EECF244321}">
                <p14:modId xmlns:p14="http://schemas.microsoft.com/office/powerpoint/2010/main" val="571445030"/>
              </p:ext>
            </p:extLst>
          </p:nvPr>
        </p:nvGraphicFramePr>
        <p:xfrm>
          <a:off x="9308596" y="2866136"/>
          <a:ext cx="2357120" cy="2103120"/>
        </p:xfrm>
        <a:graphic>
          <a:graphicData uri="http://schemas.openxmlformats.org/drawingml/2006/table">
            <a:tbl>
              <a:tblPr firstRow="1" bandRow="1">
                <a:tableStyleId>{5C22544A-7EE6-4342-B048-85BDC9FD1C3A}</a:tableStyleId>
              </a:tblPr>
              <a:tblGrid>
                <a:gridCol w="919305">
                  <a:extLst>
                    <a:ext uri="{9D8B030D-6E8A-4147-A177-3AD203B41FA5}">
                      <a16:colId xmlns:a16="http://schemas.microsoft.com/office/drawing/2014/main" val="2090632753"/>
                    </a:ext>
                  </a:extLst>
                </a:gridCol>
                <a:gridCol w="1437815">
                  <a:extLst>
                    <a:ext uri="{9D8B030D-6E8A-4147-A177-3AD203B41FA5}">
                      <a16:colId xmlns:a16="http://schemas.microsoft.com/office/drawing/2014/main" val="577272228"/>
                    </a:ext>
                  </a:extLst>
                </a:gridCol>
              </a:tblGrid>
              <a:tr h="331391">
                <a:tc>
                  <a:txBody>
                    <a:bodyPr/>
                    <a:lstStyle/>
                    <a:p>
                      <a:r>
                        <a:rPr lang="en-US" dirty="0"/>
                        <a:t>Noise %</a:t>
                      </a:r>
                    </a:p>
                  </a:txBody>
                  <a:tcPr/>
                </a:tc>
                <a:tc>
                  <a:txBody>
                    <a:bodyPr/>
                    <a:lstStyle/>
                    <a:p>
                      <a:r>
                        <a:rPr lang="en-US" dirty="0"/>
                        <a:t>Accuracy</a:t>
                      </a:r>
                    </a:p>
                  </a:txBody>
                  <a:tcPr/>
                </a:tc>
                <a:extLst>
                  <a:ext uri="{0D108BD9-81ED-4DB2-BD59-A6C34878D82A}">
                    <a16:rowId xmlns:a16="http://schemas.microsoft.com/office/drawing/2014/main" val="4005184195"/>
                  </a:ext>
                </a:extLst>
              </a:tr>
              <a:tr h="331391">
                <a:tc>
                  <a:txBody>
                    <a:bodyPr/>
                    <a:lstStyle/>
                    <a:p>
                      <a:r>
                        <a:rPr lang="en-US" dirty="0"/>
                        <a:t>0%</a:t>
                      </a:r>
                    </a:p>
                  </a:txBody>
                  <a:tcPr/>
                </a:tc>
                <a:tc>
                  <a:txBody>
                    <a:bodyPr/>
                    <a:lstStyle/>
                    <a:p>
                      <a:r>
                        <a:rPr lang="en-US" dirty="0"/>
                        <a:t>92%</a:t>
                      </a:r>
                    </a:p>
                  </a:txBody>
                  <a:tcPr/>
                </a:tc>
                <a:extLst>
                  <a:ext uri="{0D108BD9-81ED-4DB2-BD59-A6C34878D82A}">
                    <a16:rowId xmlns:a16="http://schemas.microsoft.com/office/drawing/2014/main" val="2803848300"/>
                  </a:ext>
                </a:extLst>
              </a:tr>
              <a:tr h="331391">
                <a:tc>
                  <a:txBody>
                    <a:bodyPr/>
                    <a:lstStyle/>
                    <a:p>
                      <a:r>
                        <a:rPr lang="en-US" dirty="0"/>
                        <a:t>40%</a:t>
                      </a:r>
                    </a:p>
                  </a:txBody>
                  <a:tcPr/>
                </a:tc>
                <a:tc>
                  <a:txBody>
                    <a:bodyPr/>
                    <a:lstStyle/>
                    <a:p>
                      <a:r>
                        <a:rPr lang="en-US" dirty="0"/>
                        <a:t>84%</a:t>
                      </a:r>
                    </a:p>
                  </a:txBody>
                  <a:tcPr/>
                </a:tc>
                <a:extLst>
                  <a:ext uri="{0D108BD9-81ED-4DB2-BD59-A6C34878D82A}">
                    <a16:rowId xmlns:a16="http://schemas.microsoft.com/office/drawing/2014/main" val="3327065776"/>
                  </a:ext>
                </a:extLst>
              </a:tr>
              <a:tr h="331391">
                <a:tc>
                  <a:txBody>
                    <a:bodyPr/>
                    <a:lstStyle/>
                    <a:p>
                      <a:r>
                        <a:rPr lang="en-US" dirty="0"/>
                        <a:t>50%</a:t>
                      </a:r>
                    </a:p>
                  </a:txBody>
                  <a:tcPr/>
                </a:tc>
                <a:tc>
                  <a:txBody>
                    <a:bodyPr/>
                    <a:lstStyle/>
                    <a:p>
                      <a:r>
                        <a:rPr lang="en-US" dirty="0"/>
                        <a:t>42%</a:t>
                      </a:r>
                    </a:p>
                  </a:txBody>
                  <a:tcPr/>
                </a:tc>
                <a:extLst>
                  <a:ext uri="{0D108BD9-81ED-4DB2-BD59-A6C34878D82A}">
                    <a16:rowId xmlns:a16="http://schemas.microsoft.com/office/drawing/2014/main" val="2192878829"/>
                  </a:ext>
                </a:extLst>
              </a:tr>
              <a:tr h="331391">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714598084"/>
                  </a:ext>
                </a:extLst>
              </a:tr>
            </a:tbl>
          </a:graphicData>
        </a:graphic>
      </p:graphicFrame>
      <p:sp>
        <p:nvSpPr>
          <p:cNvPr id="12" name="TextBox 11">
            <a:extLst>
              <a:ext uri="{FF2B5EF4-FFF2-40B4-BE49-F238E27FC236}">
                <a16:creationId xmlns:a16="http://schemas.microsoft.com/office/drawing/2014/main" id="{D975A139-6104-7821-7BE2-FC32305F8973}"/>
              </a:ext>
            </a:extLst>
          </p:cNvPr>
          <p:cNvSpPr txBox="1"/>
          <p:nvPr/>
        </p:nvSpPr>
        <p:spPr>
          <a:xfrm>
            <a:off x="9460332" y="2340864"/>
            <a:ext cx="2143728" cy="369332"/>
          </a:xfrm>
          <a:prstGeom prst="rect">
            <a:avLst/>
          </a:prstGeom>
          <a:noFill/>
        </p:spPr>
        <p:txBody>
          <a:bodyPr wrap="none" rtlCol="0">
            <a:spAutoFit/>
          </a:bodyPr>
          <a:lstStyle/>
          <a:p>
            <a:r>
              <a:rPr lang="en-US" dirty="0" err="1"/>
              <a:t>Bitemp</a:t>
            </a:r>
            <a:r>
              <a:rPr lang="en-US" dirty="0"/>
              <a:t> Loss results</a:t>
            </a:r>
          </a:p>
        </p:txBody>
      </p:sp>
    </p:spTree>
    <p:extLst>
      <p:ext uri="{BB962C8B-B14F-4D97-AF65-F5344CB8AC3E}">
        <p14:creationId xmlns:p14="http://schemas.microsoft.com/office/powerpoint/2010/main" val="926404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BB5A9-DAF2-D5CD-6FF7-37AD9EE1523B}"/>
              </a:ext>
            </a:extLst>
          </p:cNvPr>
          <p:cNvSpPr>
            <a:spLocks noGrp="1"/>
          </p:cNvSpPr>
          <p:nvPr>
            <p:ph type="title"/>
          </p:nvPr>
        </p:nvSpPr>
        <p:spPr/>
        <p:txBody>
          <a:bodyPr/>
          <a:lstStyle/>
          <a:p>
            <a:r>
              <a:rPr lang="en-US" dirty="0"/>
              <a:t>Symmetry property of loss functions</a:t>
            </a:r>
          </a:p>
        </p:txBody>
      </p:sp>
      <p:sp>
        <p:nvSpPr>
          <p:cNvPr id="3" name="Content Placeholder 2">
            <a:extLst>
              <a:ext uri="{FF2B5EF4-FFF2-40B4-BE49-F238E27FC236}">
                <a16:creationId xmlns:a16="http://schemas.microsoft.com/office/drawing/2014/main" id="{366D53AC-E007-B558-5093-E76568364CE4}"/>
              </a:ext>
            </a:extLst>
          </p:cNvPr>
          <p:cNvSpPr>
            <a:spLocks noGrp="1"/>
          </p:cNvSpPr>
          <p:nvPr>
            <p:ph idx="1"/>
          </p:nvPr>
        </p:nvSpPr>
        <p:spPr>
          <a:xfrm>
            <a:off x="6610662" y="4851400"/>
            <a:ext cx="4743138" cy="2264530"/>
          </a:xfrm>
        </p:spPr>
        <p:txBody>
          <a:bodyPr/>
          <a:lstStyle/>
          <a:p>
            <a:r>
              <a:rPr lang="en-US" dirty="0"/>
              <a:t>Prevents loss values to shoot up drastically in the presence of a noisy label</a:t>
            </a:r>
          </a:p>
        </p:txBody>
      </p:sp>
      <p:pic>
        <p:nvPicPr>
          <p:cNvPr id="4" name="Picture 3">
            <a:extLst>
              <a:ext uri="{FF2B5EF4-FFF2-40B4-BE49-F238E27FC236}">
                <a16:creationId xmlns:a16="http://schemas.microsoft.com/office/drawing/2014/main" id="{EEACD3D7-A773-24D1-CE2E-CBA67F36A58E}"/>
              </a:ext>
            </a:extLst>
          </p:cNvPr>
          <p:cNvPicPr>
            <a:picLocks noChangeAspect="1"/>
          </p:cNvPicPr>
          <p:nvPr/>
        </p:nvPicPr>
        <p:blipFill>
          <a:blip r:embed="rId2"/>
          <a:stretch>
            <a:fillRect/>
          </a:stretch>
        </p:blipFill>
        <p:spPr>
          <a:xfrm>
            <a:off x="560258" y="1598443"/>
            <a:ext cx="5757105" cy="4845714"/>
          </a:xfrm>
          <a:prstGeom prst="rect">
            <a:avLst/>
          </a:prstGeom>
        </p:spPr>
      </p:pic>
      <p:pic>
        <p:nvPicPr>
          <p:cNvPr id="5" name="Picture 4">
            <a:extLst>
              <a:ext uri="{FF2B5EF4-FFF2-40B4-BE49-F238E27FC236}">
                <a16:creationId xmlns:a16="http://schemas.microsoft.com/office/drawing/2014/main" id="{542F6899-228C-2A12-4E8F-5BED52DA14BE}"/>
              </a:ext>
            </a:extLst>
          </p:cNvPr>
          <p:cNvPicPr>
            <a:picLocks noChangeAspect="1"/>
          </p:cNvPicPr>
          <p:nvPr/>
        </p:nvPicPr>
        <p:blipFill>
          <a:blip r:embed="rId3"/>
          <a:stretch>
            <a:fillRect/>
          </a:stretch>
        </p:blipFill>
        <p:spPr>
          <a:xfrm>
            <a:off x="6867101" y="2168681"/>
            <a:ext cx="3266250" cy="776886"/>
          </a:xfrm>
          <a:prstGeom prst="rect">
            <a:avLst/>
          </a:prstGeom>
        </p:spPr>
      </p:pic>
      <p:pic>
        <p:nvPicPr>
          <p:cNvPr id="6" name="Picture 5">
            <a:extLst>
              <a:ext uri="{FF2B5EF4-FFF2-40B4-BE49-F238E27FC236}">
                <a16:creationId xmlns:a16="http://schemas.microsoft.com/office/drawing/2014/main" id="{1F94339C-F3BA-DDDE-69E0-0D56FC17C37E}"/>
              </a:ext>
            </a:extLst>
          </p:cNvPr>
          <p:cNvPicPr>
            <a:picLocks noChangeAspect="1"/>
          </p:cNvPicPr>
          <p:nvPr/>
        </p:nvPicPr>
        <p:blipFill>
          <a:blip r:embed="rId4"/>
          <a:stretch>
            <a:fillRect/>
          </a:stretch>
        </p:blipFill>
        <p:spPr>
          <a:xfrm>
            <a:off x="6867101" y="2986790"/>
            <a:ext cx="3808751" cy="1483929"/>
          </a:xfrm>
          <a:prstGeom prst="rect">
            <a:avLst/>
          </a:prstGeom>
        </p:spPr>
      </p:pic>
    </p:spTree>
    <p:extLst>
      <p:ext uri="{BB962C8B-B14F-4D97-AF65-F5344CB8AC3E}">
        <p14:creationId xmlns:p14="http://schemas.microsoft.com/office/powerpoint/2010/main" val="1651826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AAB42-1771-FD02-104D-597AFB4E2603}"/>
              </a:ext>
            </a:extLst>
          </p:cNvPr>
          <p:cNvSpPr>
            <a:spLocks noGrp="1"/>
          </p:cNvSpPr>
          <p:nvPr>
            <p:ph type="title"/>
          </p:nvPr>
        </p:nvSpPr>
        <p:spPr/>
        <p:txBody>
          <a:bodyPr/>
          <a:lstStyle/>
          <a:p>
            <a:r>
              <a:rPr lang="en-US" dirty="0"/>
              <a:t>Noise robust loss functions for symmetric noise: How does it work?</a:t>
            </a:r>
          </a:p>
        </p:txBody>
      </p:sp>
      <p:pic>
        <p:nvPicPr>
          <p:cNvPr id="4" name="Picture 3">
            <a:extLst>
              <a:ext uri="{FF2B5EF4-FFF2-40B4-BE49-F238E27FC236}">
                <a16:creationId xmlns:a16="http://schemas.microsoft.com/office/drawing/2014/main" id="{39F970F7-9746-CDBB-84FD-CBC84CAD342F}"/>
              </a:ext>
            </a:extLst>
          </p:cNvPr>
          <p:cNvPicPr>
            <a:picLocks noChangeAspect="1"/>
          </p:cNvPicPr>
          <p:nvPr/>
        </p:nvPicPr>
        <p:blipFill>
          <a:blip r:embed="rId2"/>
          <a:stretch>
            <a:fillRect/>
          </a:stretch>
        </p:blipFill>
        <p:spPr>
          <a:xfrm>
            <a:off x="2209800" y="1935908"/>
            <a:ext cx="7772400" cy="2986183"/>
          </a:xfrm>
          <a:prstGeom prst="rect">
            <a:avLst/>
          </a:prstGeom>
        </p:spPr>
      </p:pic>
    </p:spTree>
    <p:extLst>
      <p:ext uri="{BB962C8B-B14F-4D97-AF65-F5344CB8AC3E}">
        <p14:creationId xmlns:p14="http://schemas.microsoft.com/office/powerpoint/2010/main" val="3918763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8D067-0A79-EE6B-9F22-E48A3926557F}"/>
              </a:ext>
            </a:extLst>
          </p:cNvPr>
          <p:cNvSpPr>
            <a:spLocks noGrp="1"/>
          </p:cNvSpPr>
          <p:nvPr>
            <p:ph type="title"/>
          </p:nvPr>
        </p:nvSpPr>
        <p:spPr/>
        <p:txBody>
          <a:bodyPr/>
          <a:lstStyle/>
          <a:p>
            <a:r>
              <a:rPr lang="en-US" dirty="0"/>
              <a:t>Proposed method for asymmetric noise</a:t>
            </a:r>
          </a:p>
        </p:txBody>
      </p:sp>
      <p:pic>
        <p:nvPicPr>
          <p:cNvPr id="7" name="Picture 6">
            <a:extLst>
              <a:ext uri="{FF2B5EF4-FFF2-40B4-BE49-F238E27FC236}">
                <a16:creationId xmlns:a16="http://schemas.microsoft.com/office/drawing/2014/main" id="{4A148A49-D016-1842-5BFF-588ABB32AEDC}"/>
              </a:ext>
            </a:extLst>
          </p:cNvPr>
          <p:cNvPicPr>
            <a:picLocks noChangeAspect="1"/>
          </p:cNvPicPr>
          <p:nvPr/>
        </p:nvPicPr>
        <p:blipFill>
          <a:blip r:embed="rId2"/>
          <a:stretch>
            <a:fillRect/>
          </a:stretch>
        </p:blipFill>
        <p:spPr>
          <a:xfrm>
            <a:off x="838200" y="1690688"/>
            <a:ext cx="9918048" cy="4739068"/>
          </a:xfrm>
          <a:prstGeom prst="rect">
            <a:avLst/>
          </a:prstGeom>
        </p:spPr>
      </p:pic>
    </p:spTree>
    <p:extLst>
      <p:ext uri="{BB962C8B-B14F-4D97-AF65-F5344CB8AC3E}">
        <p14:creationId xmlns:p14="http://schemas.microsoft.com/office/powerpoint/2010/main" val="15730472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7188</TotalTime>
  <Words>764</Words>
  <Application>Microsoft Macintosh PowerPoint</Application>
  <PresentationFormat>Widescreen</PresentationFormat>
  <Paragraphs>148</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Aptos</vt:lpstr>
      <vt:lpstr>Aptos Display</vt:lpstr>
      <vt:lpstr>Arial</vt:lpstr>
      <vt:lpstr>Google Sans Text</vt:lpstr>
      <vt:lpstr>Helvetica</vt:lpstr>
      <vt:lpstr>Lato</vt:lpstr>
      <vt:lpstr>Lato Light</vt:lpstr>
      <vt:lpstr>Roboto Medium</vt:lpstr>
      <vt:lpstr>Office Theme</vt:lpstr>
      <vt:lpstr>Noise robust loss functions</vt:lpstr>
      <vt:lpstr>Agenda</vt:lpstr>
      <vt:lpstr>Agenda</vt:lpstr>
      <vt:lpstr>Noise robust learning</vt:lpstr>
      <vt:lpstr> Noisy labels</vt:lpstr>
      <vt:lpstr>Learning despite noisy labels: Approaches</vt:lpstr>
      <vt:lpstr>Noise robust learning via loss functions</vt:lpstr>
      <vt:lpstr>Loss function Approach</vt:lpstr>
      <vt:lpstr>Loss function approach: How robustness is achieved</vt:lpstr>
      <vt:lpstr>Three noise robust Loss functions</vt:lpstr>
      <vt:lpstr>Results</vt:lpstr>
      <vt:lpstr>Methodology</vt:lpstr>
      <vt:lpstr>Experiment results</vt:lpstr>
      <vt:lpstr>Future work</vt:lpstr>
      <vt:lpstr>Appendix</vt:lpstr>
      <vt:lpstr>Experiment results: Data set with Symmetric loss</vt:lpstr>
      <vt:lpstr>Symmetry property of loss functions</vt:lpstr>
      <vt:lpstr>Noise robust loss functions for symmetric noise: How does it work?</vt:lpstr>
      <vt:lpstr>Proposed method for asymmetric noise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16354</dc:creator>
  <cp:lastModifiedBy>16354</cp:lastModifiedBy>
  <cp:revision>30</cp:revision>
  <dcterms:created xsi:type="dcterms:W3CDTF">2025-11-24T10:49:14Z</dcterms:created>
  <dcterms:modified xsi:type="dcterms:W3CDTF">2025-12-10T05:23:24Z</dcterms:modified>
</cp:coreProperties>
</file>